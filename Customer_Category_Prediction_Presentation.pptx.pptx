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Calibri (MS) Bold" charset="1" panose="020F0702030404030204"/>
      <p:regular r:id="rId44"/>
    </p:embeddedFont>
    <p:embeddedFont>
      <p:font typeface="Cambria Bold" charset="1" panose="02040803050406030204"/>
      <p:regular r:id="rId45"/>
    </p:embeddedFont>
    <p:embeddedFont>
      <p:font typeface="Calibri (MS)" charset="1" panose="020F0502020204030204"/>
      <p:regular r:id="rId46"/>
    </p:embeddedFont>
    <p:embeddedFont>
      <p:font typeface="Courier New" charset="1" panose="02070309020205020404"/>
      <p:regular r:id="rId56"/>
    </p:embeddedFont>
    <p:embeddedFont>
      <p:font typeface="Courier New Bold" charset="1" panose="02070609020205020404"/>
      <p:regular r:id="rId60"/>
    </p:embeddedFont>
    <p:embeddedFont>
      <p:font typeface="Calibri (MS) Italics" charset="1" panose="020F05020202040A0204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2.xml" Type="http://schemas.openxmlformats.org/officeDocument/2006/relationships/notesSlide"/><Relationship Id="rId48" Target="notesSlides/notesSlide3.xml" Type="http://schemas.openxmlformats.org/officeDocument/2006/relationships/notesSlide"/><Relationship Id="rId49" Target="notesSlides/notesSlide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5.xml" Type="http://schemas.openxmlformats.org/officeDocument/2006/relationships/notesSlide"/><Relationship Id="rId51" Target="notesSlides/notesSlide6.xml" Type="http://schemas.openxmlformats.org/officeDocument/2006/relationships/notesSlide"/><Relationship Id="rId52" Target="notesSlides/notesSlide7.xml" Type="http://schemas.openxmlformats.org/officeDocument/2006/relationships/notesSlide"/><Relationship Id="rId53" Target="notesSlides/notesSlide8.xml" Type="http://schemas.openxmlformats.org/officeDocument/2006/relationships/notesSlide"/><Relationship Id="rId54" Target="notesSlides/notesSlide9.xml" Type="http://schemas.openxmlformats.org/officeDocument/2006/relationships/notesSlide"/><Relationship Id="rId55" Target="notesSlides/notesSlide10.xml" Type="http://schemas.openxmlformats.org/officeDocument/2006/relationships/notesSlide"/><Relationship Id="rId56" Target="fonts/font56.fntdata" Type="http://schemas.openxmlformats.org/officeDocument/2006/relationships/font"/><Relationship Id="rId57" Target="notesSlides/notesSlide11.xml" Type="http://schemas.openxmlformats.org/officeDocument/2006/relationships/notesSlide"/><Relationship Id="rId58" Target="notesSlides/notesSlide12.xml" Type="http://schemas.openxmlformats.org/officeDocument/2006/relationships/notesSlide"/><Relationship Id="rId59" Target="notesSlides/notesSlide13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14.xml" Type="http://schemas.openxmlformats.org/officeDocument/2006/relationships/notesSlide"/><Relationship Id="rId63" Target="notesSlides/notesSlide15.xml" Type="http://schemas.openxmlformats.org/officeDocument/2006/relationships/notesSlide"/><Relationship Id="rId64" Target="notesSlides/notesSlide16.xml" Type="http://schemas.openxmlformats.org/officeDocument/2006/relationships/notesSlide"/><Relationship Id="rId65" Target="notesSlides/notesSlide17.xml" Type="http://schemas.openxmlformats.org/officeDocument/2006/relationships/notesSlide"/><Relationship Id="rId66" Target="notesSlides/notesSlide18.xml" Type="http://schemas.openxmlformats.org/officeDocument/2006/relationships/notesSlide"/><Relationship Id="rId67" Target="notesSlides/notesSlide19.xml" Type="http://schemas.openxmlformats.org/officeDocument/2006/relationships/notesSlide"/><Relationship Id="rId68" Target="notesSlides/notesSlide20.xml" Type="http://schemas.openxmlformats.org/officeDocument/2006/relationships/notesSlide"/><Relationship Id="rId69" Target="notesSlides/notesSlide21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2.xml" Type="http://schemas.openxmlformats.org/officeDocument/2006/relationships/notesSlide"/><Relationship Id="rId71" Target="notesSlides/notesSlide23.xml" Type="http://schemas.openxmlformats.org/officeDocument/2006/relationships/notesSlide"/><Relationship Id="rId72" Target="notesSlides/notesSlide24.xml" Type="http://schemas.openxmlformats.org/officeDocument/2006/relationships/notesSlide"/><Relationship Id="rId73" Target="notesSlides/notesSlide25.xml" Type="http://schemas.openxmlformats.org/officeDocument/2006/relationships/notesSlide"/><Relationship Id="rId74" Target="notesSlides/notesSlide26.xml" Type="http://schemas.openxmlformats.org/officeDocument/2006/relationships/notesSlide"/><Relationship Id="rId75" Target="notesSlides/notesSlide27.xml" Type="http://schemas.openxmlformats.org/officeDocument/2006/relationships/notesSlide"/><Relationship Id="rId76" Target="notesSlides/notesSlide28.xml" Type="http://schemas.openxmlformats.org/officeDocument/2006/relationships/notesSlide"/><Relationship Id="rId77" Target="notesSlides/notesSlide29.xml" Type="http://schemas.openxmlformats.org/officeDocument/2006/relationships/notesSlide"/><Relationship Id="rId78" Target="notesSlides/notesSlide30.xml" Type="http://schemas.openxmlformats.org/officeDocument/2006/relationships/notesSlide"/><Relationship Id="rId79" Target="notesSlides/notesSlide31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32.xml" Type="http://schemas.openxmlformats.org/officeDocument/2006/relationships/notesSlide"/><Relationship Id="rId81" Target="notesSlides/notesSlide33.xml" Type="http://schemas.openxmlformats.org/officeDocument/2006/relationships/notesSlide"/><Relationship Id="rId82" Target="notesSlides/notesSlide34.xml" Type="http://schemas.openxmlformats.org/officeDocument/2006/relationships/notesSlide"/><Relationship Id="rId83" Target="notesSlides/notesSlide35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60285" y="6273165"/>
            <a:ext cx="5486400" cy="5486400"/>
            <a:chOff x="0" y="0"/>
            <a:chExt cx="7315200" cy="731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C7293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80360" y="761238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2331720"/>
            <a:ext cx="13716000" cy="548640"/>
            <a:chOff x="0" y="0"/>
            <a:chExt cx="182880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 ·  MULTICLASS CLASSIFICATION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948940"/>
            <a:ext cx="14538960" cy="2743200"/>
            <a:chOff x="0" y="0"/>
            <a:chExt cx="19385280" cy="365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852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782" r="0" b="-567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38528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387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Multi-Class Customer Category Prediction</a:t>
              </a:r>
            </a:p>
            <a:p>
              <a:pPr algn="l">
                <a:lnSpc>
                  <a:spcPts val="7387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Using Multinomial Logistic Regression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3400">
            <a:off x="1279027" y="6089332"/>
            <a:ext cx="3065516" cy="0"/>
          </a:xfrm>
          <a:prstGeom prst="line">
            <a:avLst/>
          </a:prstGeom>
          <a:ln cap="rnd" w="28575">
            <a:solidFill>
              <a:srgbClr val="3E92C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79211" y="6515100"/>
            <a:ext cx="10782578" cy="2291586"/>
            <a:chOff x="0" y="0"/>
            <a:chExt cx="14376771" cy="3055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76771" cy="3055448"/>
            </a:xfrm>
            <a:custGeom>
              <a:avLst/>
              <a:gdLst/>
              <a:ahLst/>
              <a:cxnLst/>
              <a:rect r="r" b="b" t="t" l="l"/>
              <a:pathLst>
                <a:path h="3055448" w="14376771">
                  <a:moveTo>
                    <a:pt x="0" y="0"/>
                  </a:moveTo>
                  <a:lnTo>
                    <a:pt x="14376771" y="0"/>
                  </a:lnTo>
                  <a:lnTo>
                    <a:pt x="14376771" y="3055448"/>
                  </a:lnTo>
                  <a:lnTo>
                    <a:pt x="0" y="3055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2" r="23676" b="-1785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09550"/>
              <a:ext cx="14376771" cy="3264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24"/>
                </a:lnSpc>
              </a:pPr>
              <a:r>
                <a:rPr lang="en-US" sz="2624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  :  2520030201 - Susmitha   </a:t>
              </a:r>
            </a:p>
            <a:p>
              <a:pPr algn="l">
                <a:lnSpc>
                  <a:spcPts val="4724"/>
                </a:lnSpc>
              </a:pPr>
              <a:r>
                <a:rPr lang="en-US" sz="2624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2520030194 - Yeshvitha</a:t>
              </a:r>
            </a:p>
            <a:p>
              <a:pPr algn="l">
                <a:lnSpc>
                  <a:spcPts val="4724"/>
                </a:lnSpc>
              </a:pPr>
              <a:r>
                <a:rPr lang="en-US" sz="2624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 :  Rani Mam</a:t>
              </a:r>
            </a:p>
            <a:p>
              <a:pPr algn="l">
                <a:lnSpc>
                  <a:spcPts val="4724"/>
                </a:lnSpc>
              </a:pPr>
              <a:r>
                <a:rPr lang="en-US" sz="2624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            :  5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660091" y="311285"/>
            <a:ext cx="4319883" cy="1740712"/>
          </a:xfrm>
          <a:custGeom>
            <a:avLst/>
            <a:gdLst/>
            <a:ahLst/>
            <a:cxnLst/>
            <a:rect r="r" b="b" t="t" l="l"/>
            <a:pathLst>
              <a:path h="1740712" w="4319883">
                <a:moveTo>
                  <a:pt x="0" y="0"/>
                </a:moveTo>
                <a:lnTo>
                  <a:pt x="4319883" y="0"/>
                </a:lnTo>
                <a:lnTo>
                  <a:pt x="4319883" y="1740713"/>
                </a:lnTo>
                <a:lnTo>
                  <a:pt x="0" y="1740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489" y="0"/>
            <a:ext cx="16184880" cy="3303594"/>
            <a:chOff x="0" y="0"/>
            <a:chExt cx="2157984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53" r="0" b="-1206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57984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Abstract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8154" y="2351101"/>
            <a:ext cx="16714164" cy="710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4285" indent="-317142" lvl="1">
              <a:lnSpc>
                <a:spcPts val="3995"/>
              </a:lnSpc>
              <a:buFont typeface="Arial"/>
              <a:buChar char="•"/>
            </a:pPr>
            <a:r>
              <a:rPr lang="en-US" sz="29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Businesses collect large amounts of customer data, but understanding customer behavior and identifying different customer groups can be challenging.</a:t>
            </a:r>
          </a:p>
          <a:p>
            <a:pPr algn="just">
              <a:lnSpc>
                <a:spcPts val="3995"/>
              </a:lnSpc>
            </a:pPr>
          </a:p>
          <a:p>
            <a:pPr algn="just" marL="634285" indent="-317142" lvl="1">
              <a:lnSpc>
                <a:spcPts val="3995"/>
              </a:lnSpc>
              <a:buFont typeface="Arial"/>
              <a:buChar char="•"/>
            </a:pPr>
            <a:r>
              <a:rPr lang="en-US" sz="29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develops a machine-learning system to classify customers into multiple categories using customer-related features. Multinomial Logistic Regression is used as the primary classification algorithm, applied to 50,000 retail customer records across 14 columns.</a:t>
            </a:r>
          </a:p>
          <a:p>
            <a:pPr algn="just">
              <a:lnSpc>
                <a:spcPts val="3995"/>
              </a:lnSpc>
            </a:pPr>
          </a:p>
          <a:p>
            <a:pPr algn="just" marL="634285" indent="-317142" lvl="1">
              <a:lnSpc>
                <a:spcPts val="3995"/>
              </a:lnSpc>
              <a:buFont typeface="Arial"/>
              <a:buChar char="•"/>
            </a:pPr>
            <a:r>
              <a:rPr lang="en-US" sz="29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workflow includes data exploration, data cleaning, feature preparation, model training, and performance evaluation. The trained model can predict the category of a new customer based on the input data.</a:t>
            </a:r>
          </a:p>
          <a:p>
            <a:pPr algn="just">
              <a:lnSpc>
                <a:spcPts val="3995"/>
              </a:lnSpc>
            </a:pPr>
          </a:p>
          <a:p>
            <a:pPr algn="just" marL="634285" indent="-317142" lvl="1">
              <a:lnSpc>
                <a:spcPts val="3995"/>
              </a:lnSpc>
              <a:buFont typeface="Arial"/>
              <a:buChar char="•"/>
            </a:pPr>
            <a:r>
              <a:rPr lang="en-US" sz="29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demonstrates how machine learning can support customer analysis and data-driven business decisions by classifying customers into four categories: Occasional, Regular, Loyal, and High_Value.</a:t>
            </a:r>
          </a:p>
          <a:p>
            <a:pPr algn="just">
              <a:lnSpc>
                <a:spcPts val="399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420" y="0"/>
            <a:ext cx="16184880" cy="3303594"/>
            <a:chOff x="0" y="0"/>
            <a:chExt cx="21579840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53" r="0" b="-1206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57984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8154" y="2379676"/>
            <a:ext cx="16714164" cy="783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874" indent="-327937" lvl="1">
              <a:lnSpc>
                <a:spcPts val="3645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data helps businesses understand purchasing patterns and customer activity.</a:t>
            </a:r>
          </a:p>
          <a:p>
            <a:pPr algn="l">
              <a:lnSpc>
                <a:spcPts val="3645"/>
              </a:lnSpc>
            </a:pPr>
          </a:p>
          <a:p>
            <a:pPr algn="l" marL="655874" indent="-327937" lvl="1">
              <a:lnSpc>
                <a:spcPts val="3645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classification can be time-consuming when datasets are large.</a:t>
            </a:r>
          </a:p>
          <a:p>
            <a:pPr algn="l">
              <a:lnSpc>
                <a:spcPts val="3645"/>
              </a:lnSpc>
            </a:pPr>
          </a:p>
          <a:p>
            <a:pPr algn="l" marL="655874" indent="-327937" lvl="1">
              <a:lnSpc>
                <a:spcPts val="3645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learning can identify patterns in historical customer data.</a:t>
            </a:r>
          </a:p>
          <a:p>
            <a:pPr algn="l">
              <a:lnSpc>
                <a:spcPts val="3645"/>
              </a:lnSpc>
            </a:pPr>
          </a:p>
          <a:p>
            <a:pPr algn="l" marL="655874" indent="-327937" lvl="1">
              <a:lnSpc>
                <a:spcPts val="3645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uses 11 customer features — age, income, spending, purchase frequency and more — to predict one of four customer categories.</a:t>
            </a:r>
          </a:p>
          <a:p>
            <a:pPr algn="l">
              <a:lnSpc>
                <a:spcPts val="3645"/>
              </a:lnSpc>
            </a:pPr>
          </a:p>
          <a:p>
            <a:pPr algn="l" marL="655874" indent="-327937" lvl="1">
              <a:lnSpc>
                <a:spcPts val="3645"/>
              </a:lnSpc>
              <a:buFont typeface="Arial"/>
              <a:buChar char="•"/>
            </a:pPr>
            <a:r>
              <a:rPr lang="en-US" sz="30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task is a multi-class classification problem because the target contains more than two possible categories.</a:t>
            </a: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420" y="0"/>
            <a:ext cx="16184880" cy="3989394"/>
            <a:chOff x="0" y="0"/>
            <a:chExt cx="21579840" cy="5319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5319192"/>
            </a:xfrm>
            <a:custGeom>
              <a:avLst/>
              <a:gdLst/>
              <a:ahLst/>
              <a:cxnLst/>
              <a:rect r="r" b="b" t="t" l="l"/>
              <a:pathLst>
                <a:path h="53191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97" r="0" b="719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579840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 &amp; Objective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1498" y="2571716"/>
            <a:ext cx="16306895" cy="619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463" indent="-338732" lvl="1">
              <a:lnSpc>
                <a:spcPts val="4800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Businesses need a systematic way to classify customers using available customer data. This project builds a model that predicts a customer's category — Occasional, Regular, Loyal or High_Value — from demographic, spending and behavioral features such as age, income, purchase frequency and discount usage.</a:t>
            </a:r>
          </a:p>
          <a:p>
            <a:pPr algn="l">
              <a:lnSpc>
                <a:spcPts val="4800"/>
              </a:lnSpc>
            </a:pPr>
          </a:p>
          <a:p>
            <a:pPr algn="l">
              <a:lnSpc>
                <a:spcPts val="5259"/>
              </a:lnSpc>
            </a:pPr>
            <a:r>
              <a:rPr lang="en-US" sz="3437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</a:t>
            </a:r>
          </a:p>
          <a:p>
            <a:pPr algn="l" marL="677463" indent="-338732" lvl="1">
              <a:lnSpc>
                <a:spcPts val="4800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 and explore the customer dataset.</a:t>
            </a:r>
          </a:p>
          <a:p>
            <a:pPr algn="l" marL="677463" indent="-338732" lvl="1">
              <a:lnSpc>
                <a:spcPts val="4800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the model using suitable classification metrics.</a:t>
            </a:r>
          </a:p>
          <a:p>
            <a:pPr algn="l" marL="677463" indent="-338732" lvl="1">
              <a:lnSpc>
                <a:spcPts val="4800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Demonstrate how predictions can support customer analysis.</a:t>
            </a:r>
          </a:p>
          <a:p>
            <a:pPr algn="l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End-to-End System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" y="2811780"/>
            <a:ext cx="2606040" cy="1851660"/>
            <a:chOff x="0" y="0"/>
            <a:chExt cx="3474720" cy="2468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" y="2811780"/>
            <a:ext cx="2606040" cy="1851660"/>
            <a:chOff x="0" y="0"/>
            <a:chExt cx="3474720" cy="2468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60420" y="2811780"/>
            <a:ext cx="274320" cy="1851660"/>
            <a:chOff x="0" y="0"/>
            <a:chExt cx="365760" cy="2468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66160" y="2811780"/>
            <a:ext cx="2606040" cy="1851660"/>
            <a:chOff x="0" y="0"/>
            <a:chExt cx="3474720" cy="2468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66160" y="2811780"/>
            <a:ext cx="2606040" cy="1851660"/>
            <a:chOff x="0" y="0"/>
            <a:chExt cx="3474720" cy="2468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72200" y="2811780"/>
            <a:ext cx="274320" cy="1851660"/>
            <a:chOff x="0" y="0"/>
            <a:chExt cx="365760" cy="2468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77940" y="2811780"/>
            <a:ext cx="2606040" cy="1851660"/>
            <a:chOff x="0" y="0"/>
            <a:chExt cx="3474720" cy="2468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A6B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377940" y="2811780"/>
            <a:ext cx="2606040" cy="1851660"/>
            <a:chOff x="0" y="0"/>
            <a:chExt cx="3474720" cy="2468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983980" y="2811780"/>
            <a:ext cx="274320" cy="1851660"/>
            <a:chOff x="0" y="0"/>
            <a:chExt cx="365760" cy="2468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89720" y="2811780"/>
            <a:ext cx="2606040" cy="1851660"/>
            <a:chOff x="0" y="0"/>
            <a:chExt cx="3474720" cy="2468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89720" y="2811780"/>
            <a:ext cx="2606040" cy="1851660"/>
            <a:chOff x="0" y="0"/>
            <a:chExt cx="3474720" cy="2468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Quality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795760" y="2811780"/>
            <a:ext cx="274320" cy="1851660"/>
            <a:chOff x="0" y="0"/>
            <a:chExt cx="365760" cy="2468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01500" y="2811780"/>
            <a:ext cx="2606040" cy="1851660"/>
            <a:chOff x="0" y="0"/>
            <a:chExt cx="3474720" cy="2468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01500" y="2811780"/>
            <a:ext cx="2606040" cy="1851660"/>
            <a:chOff x="0" y="0"/>
            <a:chExt cx="3474720" cy="2468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07540" y="2811780"/>
            <a:ext cx="274320" cy="1851660"/>
            <a:chOff x="0" y="0"/>
            <a:chExt cx="365760" cy="2468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813280" y="2811780"/>
            <a:ext cx="2606040" cy="1851660"/>
            <a:chOff x="0" y="0"/>
            <a:chExt cx="3474720" cy="2468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A6B8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813280" y="2811780"/>
            <a:ext cx="2606040" cy="1851660"/>
            <a:chOff x="0" y="0"/>
            <a:chExt cx="3474720" cy="2468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Feature/Target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Separation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380" y="5349240"/>
            <a:ext cx="2606040" cy="1851660"/>
            <a:chOff x="0" y="0"/>
            <a:chExt cx="3474720" cy="24688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54380" y="5349240"/>
            <a:ext cx="2606040" cy="1851660"/>
            <a:chOff x="0" y="0"/>
            <a:chExt cx="3474720" cy="2468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360420" y="5349240"/>
            <a:ext cx="274320" cy="1851660"/>
            <a:chOff x="0" y="0"/>
            <a:chExt cx="365760" cy="2468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566160" y="5349240"/>
            <a:ext cx="2606040" cy="1851660"/>
            <a:chOff x="0" y="0"/>
            <a:chExt cx="3474720" cy="24688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566160" y="5349240"/>
            <a:ext cx="2606040" cy="1851660"/>
            <a:chOff x="0" y="0"/>
            <a:chExt cx="3474720" cy="24688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Train-Test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72200" y="5349240"/>
            <a:ext cx="274320" cy="1851660"/>
            <a:chOff x="0" y="0"/>
            <a:chExt cx="365760" cy="2468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377940" y="5349240"/>
            <a:ext cx="2606040" cy="1851660"/>
            <a:chOff x="0" y="0"/>
            <a:chExt cx="3474720" cy="2468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A6B8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377940" y="5349240"/>
            <a:ext cx="2606040" cy="1851660"/>
            <a:chOff x="0" y="0"/>
            <a:chExt cx="3474720" cy="2468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Logistic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Regression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983980" y="5349240"/>
            <a:ext cx="274320" cy="1851660"/>
            <a:chOff x="0" y="0"/>
            <a:chExt cx="365760" cy="24688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189720" y="5349240"/>
            <a:ext cx="2606040" cy="1851660"/>
            <a:chOff x="0" y="0"/>
            <a:chExt cx="3474720" cy="24688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189720" y="5349240"/>
            <a:ext cx="2606040" cy="1851660"/>
            <a:chOff x="0" y="0"/>
            <a:chExt cx="3474720" cy="24688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795760" y="5349240"/>
            <a:ext cx="274320" cy="1851660"/>
            <a:chOff x="0" y="0"/>
            <a:chExt cx="365760" cy="24688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001500" y="5349240"/>
            <a:ext cx="2606040" cy="1851660"/>
            <a:chOff x="0" y="0"/>
            <a:chExt cx="3474720" cy="24688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001500" y="5349240"/>
            <a:ext cx="2606040" cy="1851660"/>
            <a:chOff x="0" y="0"/>
            <a:chExt cx="3474720" cy="2468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607540" y="5349240"/>
            <a:ext cx="274320" cy="1851660"/>
            <a:chOff x="0" y="0"/>
            <a:chExt cx="365760" cy="24688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049" t="0" r="-816049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365760" cy="251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813280" y="5349240"/>
            <a:ext cx="2606040" cy="1851660"/>
            <a:chOff x="0" y="0"/>
            <a:chExt cx="3474720" cy="2468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328416" y="0"/>
                  </a:lnTo>
                  <a:cubicBezTo>
                    <a:pt x="3409188" y="0"/>
                    <a:pt x="3474720" y="65532"/>
                    <a:pt x="3474720" y="146304"/>
                  </a:cubicBezTo>
                  <a:lnTo>
                    <a:pt x="3474720" y="2322576"/>
                  </a:lnTo>
                  <a:cubicBezTo>
                    <a:pt x="3474720" y="2403348"/>
                    <a:pt x="3409188" y="2468880"/>
                    <a:pt x="332841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813280" y="5349240"/>
            <a:ext cx="2606040" cy="1851660"/>
            <a:chOff x="0" y="0"/>
            <a:chExt cx="3474720" cy="2468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474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163" t="0" r="-4116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47472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098780" y="4663440"/>
            <a:ext cx="411480" cy="685800"/>
            <a:chOff x="0" y="0"/>
            <a:chExt cx="548640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5486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Understanding Customer Classification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576072" cy="576072"/>
            <a:chOff x="0" y="0"/>
            <a:chExt cx="768096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674620"/>
            <a:ext cx="576072" cy="576072"/>
            <a:chOff x="0" y="0"/>
            <a:chExt cx="768096" cy="768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55648" y="2592324"/>
            <a:ext cx="8257032" cy="843450"/>
            <a:chOff x="0" y="0"/>
            <a:chExt cx="11009376" cy="1124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9376" cy="1124601"/>
            </a:xfrm>
            <a:custGeom>
              <a:avLst/>
              <a:gdLst/>
              <a:ahLst/>
              <a:cxnLst/>
              <a:rect r="r" b="b" t="t" l="l"/>
              <a:pathLst>
                <a:path h="1124601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1124601"/>
                  </a:lnTo>
                  <a:lnTo>
                    <a:pt x="0" y="1124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30" r="0" b="-1354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009376" cy="1172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classification is the process of assigning customers to predefined groups.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" y="3662172"/>
            <a:ext cx="576072" cy="576072"/>
            <a:chOff x="0" y="0"/>
            <a:chExt cx="768096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120" y="3662172"/>
            <a:ext cx="576072" cy="576072"/>
            <a:chOff x="0" y="0"/>
            <a:chExt cx="768096" cy="7680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55648" y="3579876"/>
            <a:ext cx="8257032" cy="843450"/>
            <a:chOff x="0" y="0"/>
            <a:chExt cx="11009376" cy="1124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9376" cy="1124601"/>
            </a:xfrm>
            <a:custGeom>
              <a:avLst/>
              <a:gdLst/>
              <a:ahLst/>
              <a:cxnLst/>
              <a:rect r="r" b="b" t="t" l="l"/>
              <a:pathLst>
                <a:path h="1124601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1124601"/>
                  </a:lnTo>
                  <a:lnTo>
                    <a:pt x="0" y="1124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30" r="0" b="-1354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009376" cy="1172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Demographic, spending and purchase-behavior data can be used for classification.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4649724"/>
            <a:ext cx="576072" cy="576072"/>
            <a:chOff x="0" y="0"/>
            <a:chExt cx="768096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0120" y="4649724"/>
            <a:ext cx="576072" cy="576072"/>
            <a:chOff x="0" y="0"/>
            <a:chExt cx="768096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55648" y="4567428"/>
            <a:ext cx="8257032" cy="843450"/>
            <a:chOff x="0" y="0"/>
            <a:chExt cx="11009376" cy="1124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09376" cy="1124601"/>
            </a:xfrm>
            <a:custGeom>
              <a:avLst/>
              <a:gdLst/>
              <a:ahLst/>
              <a:cxnLst/>
              <a:rect r="r" b="b" t="t" l="l"/>
              <a:pathLst>
                <a:path h="1124601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1124601"/>
                  </a:lnTo>
                  <a:lnTo>
                    <a:pt x="0" y="1124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30" r="0" b="-1354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1009376" cy="1172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Machine Learning can identify patterns hidden in existing customer data.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120" y="5637276"/>
            <a:ext cx="576072" cy="576072"/>
            <a:chOff x="0" y="0"/>
            <a:chExt cx="768096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120" y="5637276"/>
            <a:ext cx="576072" cy="576072"/>
            <a:chOff x="0" y="0"/>
            <a:chExt cx="768096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55648" y="5554980"/>
            <a:ext cx="8257032" cy="843450"/>
            <a:chOff x="0" y="0"/>
            <a:chExt cx="11009376" cy="1124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09376" cy="1124601"/>
            </a:xfrm>
            <a:custGeom>
              <a:avLst/>
              <a:gdLst/>
              <a:ahLst/>
              <a:cxnLst/>
              <a:rect r="r" b="b" t="t" l="l"/>
              <a:pathLst>
                <a:path h="1124601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1124601"/>
                  </a:lnTo>
                  <a:lnTo>
                    <a:pt x="0" y="1124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30" r="0" b="-13547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1009376" cy="1172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applies Multinomial Logistic Regression to predict customer categories.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" y="6624828"/>
            <a:ext cx="576072" cy="576072"/>
            <a:chOff x="0" y="0"/>
            <a:chExt cx="768096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120" y="6624828"/>
            <a:ext cx="576072" cy="576072"/>
            <a:chOff x="0" y="0"/>
            <a:chExt cx="768096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55648" y="6542532"/>
            <a:ext cx="8257032" cy="843450"/>
            <a:chOff x="0" y="0"/>
            <a:chExt cx="11009376" cy="1124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09376" cy="1124601"/>
            </a:xfrm>
            <a:custGeom>
              <a:avLst/>
              <a:gdLst/>
              <a:ahLst/>
              <a:cxnLst/>
              <a:rect r="r" b="b" t="t" l="l"/>
              <a:pathLst>
                <a:path h="1124601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1124601"/>
                  </a:lnTo>
                  <a:lnTo>
                    <a:pt x="0" y="1124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30" r="0" b="-1354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1009376" cy="1172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 performs four-class classification across the full customer base.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561320" y="2606040"/>
            <a:ext cx="6858000" cy="6858000"/>
            <a:chOff x="0" y="0"/>
            <a:chExt cx="9144000" cy="9144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8997696"/>
                  </a:lnTo>
                  <a:cubicBezTo>
                    <a:pt x="9144000" y="9078468"/>
                    <a:pt x="9078468" y="9144000"/>
                    <a:pt x="8997696" y="9144000"/>
                  </a:cubicBezTo>
                  <a:lnTo>
                    <a:pt x="146304" y="9144000"/>
                  </a:lnTo>
                  <a:cubicBezTo>
                    <a:pt x="65532" y="9144000"/>
                    <a:pt x="0" y="9078468"/>
                    <a:pt x="0" y="899769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972800" y="2880360"/>
            <a:ext cx="6035040" cy="480060"/>
            <a:chOff x="0" y="0"/>
            <a:chExt cx="804672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046720" cy="640080"/>
            </a:xfrm>
            <a:custGeom>
              <a:avLst/>
              <a:gdLst/>
              <a:ahLst/>
              <a:cxnLst/>
              <a:rect r="r" b="b" t="t" l="l"/>
              <a:pathLst>
                <a:path h="6400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0467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CATEGORIES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0" y="3497580"/>
            <a:ext cx="6035040" cy="1261872"/>
            <a:chOff x="0" y="0"/>
            <a:chExt cx="8046720" cy="16824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46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8046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936992" y="0"/>
                  </a:lnTo>
                  <a:cubicBezTo>
                    <a:pt x="7997572" y="0"/>
                    <a:pt x="8046720" y="49149"/>
                    <a:pt x="8046720" y="109728"/>
                  </a:cubicBezTo>
                  <a:lnTo>
                    <a:pt x="8046720" y="1572768"/>
                  </a:lnTo>
                  <a:cubicBezTo>
                    <a:pt x="8046720" y="1633347"/>
                    <a:pt x="7997572" y="1682496"/>
                    <a:pt x="7936992" y="1682496"/>
                  </a:cubicBezTo>
                  <a:lnTo>
                    <a:pt x="109728" y="1682496"/>
                  </a:lnTo>
                  <a:cubicBezTo>
                    <a:pt x="49149" y="1682496"/>
                    <a:pt x="0" y="1633347"/>
                    <a:pt x="0" y="1572768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315700" y="3579876"/>
            <a:ext cx="5486400" cy="548640"/>
            <a:chOff x="0" y="0"/>
            <a:chExt cx="73152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7315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Occasional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315700" y="4128516"/>
            <a:ext cx="5486400" cy="548640"/>
            <a:chOff x="0" y="0"/>
            <a:chExt cx="731520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7315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Lowest engagement tier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972800" y="4937760"/>
            <a:ext cx="6035040" cy="1261872"/>
            <a:chOff x="0" y="0"/>
            <a:chExt cx="8046720" cy="16824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46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8046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936992" y="0"/>
                  </a:lnTo>
                  <a:cubicBezTo>
                    <a:pt x="7997572" y="0"/>
                    <a:pt x="8046720" y="49149"/>
                    <a:pt x="8046720" y="109728"/>
                  </a:cubicBezTo>
                  <a:lnTo>
                    <a:pt x="8046720" y="1572768"/>
                  </a:lnTo>
                  <a:cubicBezTo>
                    <a:pt x="8046720" y="1633347"/>
                    <a:pt x="7997572" y="1682496"/>
                    <a:pt x="7936992" y="1682496"/>
                  </a:cubicBezTo>
                  <a:lnTo>
                    <a:pt x="109728" y="1682496"/>
                  </a:lnTo>
                  <a:cubicBezTo>
                    <a:pt x="49149" y="1682496"/>
                    <a:pt x="0" y="1633347"/>
                    <a:pt x="0" y="1572768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315700" y="5020056"/>
            <a:ext cx="5486400" cy="548640"/>
            <a:chOff x="0" y="0"/>
            <a:chExt cx="73152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7315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Regular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315700" y="5568696"/>
            <a:ext cx="5486400" cy="548640"/>
            <a:chOff x="0" y="0"/>
            <a:chExt cx="73152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7315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Consistent, moderate activity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972800" y="6377940"/>
            <a:ext cx="6035040" cy="1261872"/>
            <a:chOff x="0" y="0"/>
            <a:chExt cx="8046720" cy="16824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046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8046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936992" y="0"/>
                  </a:lnTo>
                  <a:cubicBezTo>
                    <a:pt x="7997572" y="0"/>
                    <a:pt x="8046720" y="49149"/>
                    <a:pt x="8046720" y="109728"/>
                  </a:cubicBezTo>
                  <a:lnTo>
                    <a:pt x="8046720" y="1572768"/>
                  </a:lnTo>
                  <a:cubicBezTo>
                    <a:pt x="8046720" y="1633347"/>
                    <a:pt x="7997572" y="1682496"/>
                    <a:pt x="7936992" y="1682496"/>
                  </a:cubicBezTo>
                  <a:lnTo>
                    <a:pt x="109728" y="1682496"/>
                  </a:lnTo>
                  <a:cubicBezTo>
                    <a:pt x="49149" y="1682496"/>
                    <a:pt x="0" y="1633347"/>
                    <a:pt x="0" y="1572768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315700" y="6460236"/>
            <a:ext cx="5486400" cy="548640"/>
            <a:chOff x="0" y="0"/>
            <a:chExt cx="73152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7315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Loyal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315700" y="7008876"/>
            <a:ext cx="5486400" cy="548640"/>
            <a:chOff x="0" y="0"/>
            <a:chExt cx="731520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7315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repeat engagement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972800" y="7818120"/>
            <a:ext cx="6035040" cy="1261872"/>
            <a:chOff x="0" y="0"/>
            <a:chExt cx="8046720" cy="16824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0467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8046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936992" y="0"/>
                  </a:lnTo>
                  <a:cubicBezTo>
                    <a:pt x="7997572" y="0"/>
                    <a:pt x="8046720" y="49149"/>
                    <a:pt x="8046720" y="109728"/>
                  </a:cubicBezTo>
                  <a:lnTo>
                    <a:pt x="8046720" y="1572768"/>
                  </a:lnTo>
                  <a:cubicBezTo>
                    <a:pt x="8046720" y="1633347"/>
                    <a:pt x="7997572" y="1682496"/>
                    <a:pt x="7936992" y="1682496"/>
                  </a:cubicBezTo>
                  <a:lnTo>
                    <a:pt x="109728" y="1682496"/>
                  </a:lnTo>
                  <a:cubicBezTo>
                    <a:pt x="49149" y="1682496"/>
                    <a:pt x="0" y="1633347"/>
                    <a:pt x="0" y="1572768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315700" y="7900416"/>
            <a:ext cx="5486400" cy="548640"/>
            <a:chOff x="0" y="0"/>
            <a:chExt cx="731520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7315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High_Value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315700" y="8449056"/>
            <a:ext cx="5486400" cy="548640"/>
            <a:chOff x="0" y="0"/>
            <a:chExt cx="731520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73152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Top-tier spenders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Raw Customer Data to Actionable Categories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16322040" cy="1719243"/>
            <a:chOff x="0" y="0"/>
            <a:chExt cx="21762720" cy="22923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2292324"/>
            </a:xfrm>
            <a:custGeom>
              <a:avLst/>
              <a:gdLst/>
              <a:ahLst/>
              <a:cxnLst/>
              <a:rect r="r" b="b" t="t" l="l"/>
              <a:pathLst>
                <a:path h="22923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292324"/>
                  </a:lnTo>
                  <a:lnTo>
                    <a:pt x="0" y="2292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107" r="0" b="-128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21762720" cy="243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62"/>
                </a:lnSpc>
              </a:pPr>
              <a:r>
                <a:rPr lang="en-US" sz="29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Retail businesses hold large volumes of customer information but often struggle to categorize customers manually. The goal is to develop a Machine Learning model that automatically predicts a customer's category from their demographic, spending and behavioral information.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595" y="4448175"/>
            <a:ext cx="9208770" cy="4888230"/>
            <a:chOff x="0" y="0"/>
            <a:chExt cx="12278360" cy="6517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78360" cy="6517640"/>
            </a:xfrm>
            <a:custGeom>
              <a:avLst/>
              <a:gdLst/>
              <a:ahLst/>
              <a:cxnLst/>
              <a:rect r="r" b="b" t="t" l="l"/>
              <a:pathLst>
                <a:path h="6517640" w="1227836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2131421" y="0"/>
                  </a:lnTo>
                  <a:cubicBezTo>
                    <a:pt x="12212574" y="0"/>
                    <a:pt x="12278360" y="65786"/>
                    <a:pt x="12278360" y="146939"/>
                  </a:cubicBezTo>
                  <a:lnTo>
                    <a:pt x="12278360" y="6370701"/>
                  </a:lnTo>
                  <a:cubicBezTo>
                    <a:pt x="12278360" y="6451854"/>
                    <a:pt x="12212574" y="6517640"/>
                    <a:pt x="12131421" y="6517640"/>
                  </a:cubicBezTo>
                  <a:lnTo>
                    <a:pt x="146939" y="6517640"/>
                  </a:lnTo>
                  <a:cubicBezTo>
                    <a:pt x="65786" y="6517640"/>
                    <a:pt x="0" y="6451854"/>
                    <a:pt x="0" y="637070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4732020"/>
            <a:ext cx="5486400" cy="480060"/>
            <a:chOff x="0" y="0"/>
            <a:chExt cx="73152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5280660"/>
            <a:ext cx="3977640" cy="3840480"/>
            <a:chOff x="0" y="0"/>
            <a:chExt cx="5303520" cy="5120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0352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879" t="0" r="-7387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0"/>
              <a:ext cx="5303520" cy="531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Age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Annual Income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Monthly Spending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Purchase Frequency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Avg. Order Value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623560" y="5280660"/>
            <a:ext cx="4251960" cy="3840480"/>
            <a:chOff x="0" y="0"/>
            <a:chExt cx="5669280" cy="5120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6928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0"/>
              <a:ext cx="5669280" cy="531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Discount Usage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Return Rate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Browsing Time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Support Interactions</a:t>
              </a:r>
            </a:p>
            <a:p>
              <a:pPr algn="l">
                <a:lnSpc>
                  <a:spcPts val="4454"/>
                </a:lnSpc>
              </a:pPr>
              <a:r>
                <a:rPr lang="en-US" sz="2474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Payment Method / Region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67060" y="4457700"/>
            <a:ext cx="6583680" cy="4869180"/>
            <a:chOff x="0" y="0"/>
            <a:chExt cx="8778240" cy="649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6492240"/>
            </a:xfrm>
            <a:custGeom>
              <a:avLst/>
              <a:gdLst/>
              <a:ahLst/>
              <a:cxnLst/>
              <a:rect r="r" b="b" t="t" l="l"/>
              <a:pathLst>
                <a:path h="64922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6345936"/>
                  </a:lnTo>
                  <a:cubicBezTo>
                    <a:pt x="8778240" y="6426708"/>
                    <a:pt x="8712708" y="6492240"/>
                    <a:pt x="8631936" y="6492240"/>
                  </a:cubicBezTo>
                  <a:lnTo>
                    <a:pt x="146304" y="6492240"/>
                  </a:lnTo>
                  <a:cubicBezTo>
                    <a:pt x="65532" y="6492240"/>
                    <a:pt x="0" y="6426708"/>
                    <a:pt x="0" y="634593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78540" y="4732020"/>
            <a:ext cx="5486400" cy="480060"/>
            <a:chOff x="0" y="0"/>
            <a:chExt cx="731520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78540" y="5486400"/>
            <a:ext cx="5760720" cy="1234440"/>
            <a:chOff x="0" y="0"/>
            <a:chExt cx="768096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7680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Predicted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 Category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78540" y="6926580"/>
            <a:ext cx="5897880" cy="1783080"/>
            <a:chOff x="0" y="0"/>
            <a:chExt cx="7863840" cy="2377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638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33350"/>
              <a:ext cx="7863840" cy="2510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19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Occasional  ·  Regular  ·  Loyal  ·  High_Value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This Project Sets Out to 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0595" y="2802255"/>
            <a:ext cx="5162550" cy="6396990"/>
            <a:chOff x="0" y="0"/>
            <a:chExt cx="6883400" cy="8529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3400" cy="8529320"/>
            </a:xfrm>
            <a:custGeom>
              <a:avLst/>
              <a:gdLst/>
              <a:ahLst/>
              <a:cxnLst/>
              <a:rect r="r" b="b" t="t" l="l"/>
              <a:pathLst>
                <a:path h="852932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8382508"/>
                  </a:lnTo>
                  <a:cubicBezTo>
                    <a:pt x="6883400" y="8463534"/>
                    <a:pt x="6817614" y="8529320"/>
                    <a:pt x="6736588" y="8529320"/>
                  </a:cubicBezTo>
                  <a:lnTo>
                    <a:pt x="146812" y="8529320"/>
                  </a:lnTo>
                  <a:cubicBezTo>
                    <a:pt x="65786" y="8529320"/>
                    <a:pt x="0" y="8463534"/>
                    <a:pt x="0" y="8382508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329184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859536"/>
                  </a:lnTo>
                  <a:cubicBezTo>
                    <a:pt x="1005840" y="940308"/>
                    <a:pt x="940308" y="1005840"/>
                    <a:pt x="85953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0180" y="3291840"/>
            <a:ext cx="754380" cy="754380"/>
            <a:chOff x="0" y="0"/>
            <a:chExt cx="100584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" y="438721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Load and understand the customer 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" y="569023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 Exploratory Data Analysis (EDA)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3040" y="699325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missing values and duplicate records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05575" y="2802255"/>
            <a:ext cx="5162550" cy="6396990"/>
            <a:chOff x="0" y="0"/>
            <a:chExt cx="6883400" cy="8529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83400" cy="8529320"/>
            </a:xfrm>
            <a:custGeom>
              <a:avLst/>
              <a:gdLst/>
              <a:ahLst/>
              <a:cxnLst/>
              <a:rect r="r" b="b" t="t" l="l"/>
              <a:pathLst>
                <a:path h="852932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8382508"/>
                  </a:lnTo>
                  <a:cubicBezTo>
                    <a:pt x="6883400" y="8463534"/>
                    <a:pt x="6817614" y="8529320"/>
                    <a:pt x="6736588" y="8529320"/>
                  </a:cubicBezTo>
                  <a:lnTo>
                    <a:pt x="146812" y="8529320"/>
                  </a:lnTo>
                  <a:cubicBezTo>
                    <a:pt x="65786" y="8529320"/>
                    <a:pt x="0" y="8463534"/>
                    <a:pt x="0" y="8382508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95160" y="329184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859536"/>
                  </a:lnTo>
                  <a:cubicBezTo>
                    <a:pt x="1005840" y="940308"/>
                    <a:pt x="940308" y="1005840"/>
                    <a:pt x="85953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95160" y="329184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18020" y="438721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Clean and preprocess the dataset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18020" y="569023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 features and target variable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18020" y="699325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Train a Multinomial Logistic Regression model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060555" y="2802255"/>
            <a:ext cx="5162550" cy="6396990"/>
            <a:chOff x="0" y="0"/>
            <a:chExt cx="6883400" cy="8529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83400" cy="8529320"/>
            </a:xfrm>
            <a:custGeom>
              <a:avLst/>
              <a:gdLst/>
              <a:ahLst/>
              <a:cxnLst/>
              <a:rect r="r" b="b" t="t" l="l"/>
              <a:pathLst>
                <a:path h="852932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8382508"/>
                  </a:lnTo>
                  <a:cubicBezTo>
                    <a:pt x="6883400" y="8463534"/>
                    <a:pt x="6817614" y="8529320"/>
                    <a:pt x="6736588" y="8529320"/>
                  </a:cubicBezTo>
                  <a:lnTo>
                    <a:pt x="146812" y="8529320"/>
                  </a:lnTo>
                  <a:cubicBezTo>
                    <a:pt x="65786" y="8529320"/>
                    <a:pt x="0" y="8463534"/>
                    <a:pt x="0" y="8382508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550140" y="329184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859536"/>
                  </a:lnTo>
                  <a:cubicBezTo>
                    <a:pt x="1005840" y="940308"/>
                    <a:pt x="940308" y="1005840"/>
                    <a:pt x="85953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50140" y="3291840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73000" y="438721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customer categories for unseen 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73000" y="569023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the model with classification metrics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73000" y="6993255"/>
            <a:ext cx="4137660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the confusion matrix and coefficients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DESCRIPTION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50,000 Customers · 14 Columns · 4 Segments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1892808" cy="1920240"/>
            <a:chOff x="0" y="0"/>
            <a:chExt cx="2523744" cy="2560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374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237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77440" y="0"/>
                  </a:lnTo>
                  <a:cubicBezTo>
                    <a:pt x="2458212" y="0"/>
                    <a:pt x="2523744" y="65532"/>
                    <a:pt x="2523744" y="146304"/>
                  </a:cubicBezTo>
                  <a:lnTo>
                    <a:pt x="2523744" y="2414016"/>
                  </a:lnTo>
                  <a:cubicBezTo>
                    <a:pt x="2523744" y="2494788"/>
                    <a:pt x="2458212" y="2560320"/>
                    <a:pt x="2377440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811780"/>
            <a:ext cx="1892808" cy="1028700"/>
            <a:chOff x="0" y="0"/>
            <a:chExt cx="2523744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2374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23744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50,000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3771900"/>
            <a:ext cx="1892808" cy="617220"/>
            <a:chOff x="0" y="0"/>
            <a:chExt cx="2523744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23744" cy="822960"/>
            </a:xfrm>
            <a:custGeom>
              <a:avLst/>
              <a:gdLst/>
              <a:ahLst/>
              <a:cxnLst/>
              <a:rect r="r" b="b" t="t" l="l"/>
              <a:pathLst>
                <a:path h="82296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52374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017520" y="2674620"/>
            <a:ext cx="1892808" cy="1920240"/>
            <a:chOff x="0" y="0"/>
            <a:chExt cx="2523744" cy="2560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2374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237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77440" y="0"/>
                  </a:lnTo>
                  <a:cubicBezTo>
                    <a:pt x="2458212" y="0"/>
                    <a:pt x="2523744" y="65532"/>
                    <a:pt x="2523744" y="146304"/>
                  </a:cubicBezTo>
                  <a:lnTo>
                    <a:pt x="2523744" y="2414016"/>
                  </a:lnTo>
                  <a:cubicBezTo>
                    <a:pt x="2523744" y="2494788"/>
                    <a:pt x="2458212" y="2560320"/>
                    <a:pt x="2377440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017520" y="2811780"/>
            <a:ext cx="1892808" cy="1028700"/>
            <a:chOff x="0" y="0"/>
            <a:chExt cx="2523744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2374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523744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17520" y="3771900"/>
            <a:ext cx="1892808" cy="617220"/>
            <a:chOff x="0" y="0"/>
            <a:chExt cx="2523744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23744" cy="822960"/>
            </a:xfrm>
            <a:custGeom>
              <a:avLst/>
              <a:gdLst/>
              <a:ahLst/>
              <a:cxnLst/>
              <a:rect r="r" b="b" t="t" l="l"/>
              <a:pathLst>
                <a:path h="82296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2374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Columns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674620"/>
            <a:ext cx="1892808" cy="1920240"/>
            <a:chOff x="0" y="0"/>
            <a:chExt cx="2523744" cy="2560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2374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237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77440" y="0"/>
                  </a:lnTo>
                  <a:cubicBezTo>
                    <a:pt x="2458212" y="0"/>
                    <a:pt x="2523744" y="65532"/>
                    <a:pt x="2523744" y="146304"/>
                  </a:cubicBezTo>
                  <a:lnTo>
                    <a:pt x="2523744" y="2414016"/>
                  </a:lnTo>
                  <a:cubicBezTo>
                    <a:pt x="2523744" y="2494788"/>
                    <a:pt x="2458212" y="2560320"/>
                    <a:pt x="2377440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74920" y="2811780"/>
            <a:ext cx="1892808" cy="1028700"/>
            <a:chOff x="0" y="0"/>
            <a:chExt cx="2523744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2374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523744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74920" y="3771900"/>
            <a:ext cx="1892808" cy="617220"/>
            <a:chOff x="0" y="0"/>
            <a:chExt cx="2523744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23744" cy="822960"/>
            </a:xfrm>
            <a:custGeom>
              <a:avLst/>
              <a:gdLst/>
              <a:ahLst/>
              <a:cxnLst/>
              <a:rect r="r" b="b" t="t" l="l"/>
              <a:pathLst>
                <a:path h="82296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2374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32320" y="2674620"/>
            <a:ext cx="1892808" cy="1920240"/>
            <a:chOff x="0" y="0"/>
            <a:chExt cx="2523744" cy="2560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23744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2374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77440" y="0"/>
                  </a:lnTo>
                  <a:cubicBezTo>
                    <a:pt x="2458212" y="0"/>
                    <a:pt x="2523744" y="65532"/>
                    <a:pt x="2523744" y="146304"/>
                  </a:cubicBezTo>
                  <a:lnTo>
                    <a:pt x="2523744" y="2414016"/>
                  </a:lnTo>
                  <a:cubicBezTo>
                    <a:pt x="2523744" y="2494788"/>
                    <a:pt x="2458212" y="2560320"/>
                    <a:pt x="2377440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32320" y="2811780"/>
            <a:ext cx="1892808" cy="1028700"/>
            <a:chOff x="0" y="0"/>
            <a:chExt cx="2523744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2374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523744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132320" y="3771900"/>
            <a:ext cx="1892808" cy="617220"/>
            <a:chOff x="0" y="0"/>
            <a:chExt cx="2523744" cy="822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23744" cy="822960"/>
            </a:xfrm>
            <a:custGeom>
              <a:avLst/>
              <a:gdLst/>
              <a:ahLst/>
              <a:cxnLst/>
              <a:rect r="r" b="b" t="t" l="l"/>
              <a:pathLst>
                <a:path h="822960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523744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Duplicates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" y="4937760"/>
            <a:ext cx="8229600" cy="480060"/>
            <a:chOff x="0" y="0"/>
            <a:chExt cx="109728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CLASS DISTRIBUTION</a:t>
              </a:r>
            </a:p>
          </p:txBody>
        </p:sp>
      </p:grpSp>
      <p:graphicFrame>
        <p:nvGraphicFramePr>
          <p:cNvPr name="Table 45" id="45"/>
          <p:cNvGraphicFramePr>
            <a:graphicFrameLocks noGrp="true"/>
          </p:cNvGraphicFramePr>
          <p:nvPr/>
        </p:nvGraphicFramePr>
        <p:xfrm>
          <a:off x="960120" y="5486400"/>
          <a:ext cx="8077200" cy="3429000"/>
        </p:xfrm>
        <a:graphic>
          <a:graphicData uri="http://schemas.openxmlformats.org/drawingml/2006/table">
            <a:tbl>
              <a:tblPr/>
              <a:tblGrid>
                <a:gridCol w="4920160"/>
                <a:gridCol w="3157040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Customer Segment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22,109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13,455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9,163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High_Value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5,273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6" id="46"/>
          <p:cNvGrpSpPr/>
          <p:nvPr/>
        </p:nvGrpSpPr>
        <p:grpSpPr>
          <a:xfrm rot="0">
            <a:off x="9601200" y="2674620"/>
            <a:ext cx="7680960" cy="6652260"/>
            <a:chOff x="0" y="0"/>
            <a:chExt cx="10241280" cy="8869680"/>
          </a:xfrm>
        </p:grpSpPr>
        <p:sp>
          <p:nvSpPr>
            <p:cNvPr name="Freeform 47" id="47" descr="/home/claude/figs/target_distribution.png"/>
            <p:cNvSpPr/>
            <p:nvPr/>
          </p:nvSpPr>
          <p:spPr>
            <a:xfrm flipH="false" flipV="false" rot="0">
              <a:off x="0" y="0"/>
              <a:ext cx="102412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869680"/>
                  </a:lnTo>
                  <a:lnTo>
                    <a:pt x="0" y="8869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1249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Importing Required Libraries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306050" cy="6671310"/>
            <a:chOff x="0" y="0"/>
            <a:chExt cx="13741400" cy="889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37414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3631418" y="0"/>
                  </a:lnTo>
                  <a:cubicBezTo>
                    <a:pt x="13692124" y="0"/>
                    <a:pt x="13741400" y="49276"/>
                    <a:pt x="13741400" y="109982"/>
                  </a:cubicBezTo>
                  <a:lnTo>
                    <a:pt x="13741400" y="8785098"/>
                  </a:lnTo>
                  <a:cubicBezTo>
                    <a:pt x="13741400" y="8845804"/>
                    <a:pt x="13692124" y="8895080"/>
                    <a:pt x="13631418" y="8895080"/>
                  </a:cubicBezTo>
                  <a:lnTo>
                    <a:pt x="109982" y="8895080"/>
                  </a:lnTo>
                  <a:cubicBezTo>
                    <a:pt x="49276" y="8895080"/>
                    <a:pt x="0" y="8845804"/>
                    <a:pt x="0" y="8785098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7300" y="2966085"/>
            <a:ext cx="9418320" cy="610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import matplotlib.pyplot as plt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import seaborn as sns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sklearn.model_selection import 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train_test_split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sklearn.preprocessing import 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StandardScaler, OneHotEncoder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sklearn.impute import SimpleImputer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sklearn.compose import ColumnTransformer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sklearn.pipeline import Pipeline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sklearn.linear_model import 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LogisticRegression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sklearn.metrics import 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accuracy_score, precision_score,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recall_score, f1_score,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classification_report, confusion_matrix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52860" y="2674620"/>
            <a:ext cx="5897880" cy="480060"/>
            <a:chOff x="0" y="0"/>
            <a:chExt cx="78638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2860" y="3332988"/>
            <a:ext cx="150876" cy="150876"/>
            <a:chOff x="0" y="0"/>
            <a:chExt cx="201168" cy="201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0" y="311162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Pandas — data handling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2860" y="4320540"/>
            <a:ext cx="150876" cy="150876"/>
            <a:chOff x="0" y="0"/>
            <a:chExt cx="201168" cy="201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87200" y="4099179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NumPy — numerical operations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2860" y="53080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0" y="5086731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Matplotlib / Seaborn — visualization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52860" y="6295644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87200" y="6074283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Scikit-learn — machine learning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52860" y="7283196"/>
            <a:ext cx="150876" cy="150876"/>
            <a:chOff x="0" y="0"/>
            <a:chExt cx="201168" cy="201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887200" y="7061835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LogisticRegression — classification model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52860" y="8270748"/>
            <a:ext cx="150876" cy="150876"/>
            <a:chOff x="0" y="0"/>
            <a:chExt cx="201168" cy="2011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887200" y="804938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Metrics — model evaluation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LOADING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Loading the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306050" cy="6671310"/>
            <a:chOff x="0" y="0"/>
            <a:chExt cx="13741400" cy="889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37414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3631418" y="0"/>
                  </a:lnTo>
                  <a:cubicBezTo>
                    <a:pt x="13692124" y="0"/>
                    <a:pt x="13741400" y="49276"/>
                    <a:pt x="13741400" y="109982"/>
                  </a:cubicBezTo>
                  <a:lnTo>
                    <a:pt x="13741400" y="8785098"/>
                  </a:lnTo>
                  <a:cubicBezTo>
                    <a:pt x="13741400" y="8845804"/>
                    <a:pt x="13692124" y="8895080"/>
                    <a:pt x="13631418" y="8895080"/>
                  </a:cubicBezTo>
                  <a:lnTo>
                    <a:pt x="109982" y="8895080"/>
                  </a:lnTo>
                  <a:cubicBezTo>
                    <a:pt x="49276" y="8895080"/>
                    <a:pt x="0" y="8845804"/>
                    <a:pt x="0" y="8785098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7300" y="2966085"/>
            <a:ext cx="9418320" cy="610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from google.colab import files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uploaded = files.upload()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filename = list(uploaded.keys())[0]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pd.read_csv(filename)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df.head()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52860" y="2674620"/>
            <a:ext cx="5897880" cy="480060"/>
            <a:chOff x="0" y="0"/>
            <a:chExt cx="78638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EXPLANATION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2860" y="3332988"/>
            <a:ext cx="150876" cy="150876"/>
            <a:chOff x="0" y="0"/>
            <a:chExt cx="201168" cy="201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0" y="311162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is uploaded via Google Colab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2860" y="4320540"/>
            <a:ext cx="150876" cy="150876"/>
            <a:chOff x="0" y="0"/>
            <a:chExt cx="201168" cy="201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87200" y="4099179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pd.read_csv() loads the CSV file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2860" y="53080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0" y="5086731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Data is stored in the DataFrame df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52860" y="6295644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87200" y="6074283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df.head() previews the first 5 records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52860" y="7283196"/>
            <a:ext cx="150876" cy="150876"/>
            <a:chOff x="0" y="0"/>
            <a:chExt cx="201168" cy="201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887200" y="7061835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Result: 50,000 rows × 14 columns loaded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Basic Dataset Exploration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743200"/>
            <a:ext cx="8092440" cy="6446520"/>
            <a:chOff x="0" y="0"/>
            <a:chExt cx="10789920" cy="859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89920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8449056"/>
                  </a:lnTo>
                  <a:cubicBezTo>
                    <a:pt x="10789920" y="8529828"/>
                    <a:pt x="10724388" y="8595361"/>
                    <a:pt x="10643616" y="8595361"/>
                  </a:cubicBezTo>
                  <a:lnTo>
                    <a:pt x="146304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086100"/>
            <a:ext cx="6858000" cy="480060"/>
            <a:chOff x="0" y="0"/>
            <a:chExt cx="91440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COMMANDS USED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3703320"/>
            <a:ext cx="7406640" cy="5212080"/>
            <a:chOff x="0" y="0"/>
            <a:chExt cx="9875520" cy="6949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6949440"/>
            </a:xfrm>
            <a:custGeom>
              <a:avLst/>
              <a:gdLst/>
              <a:ahLst/>
              <a:cxnLst/>
              <a:rect r="r" b="b" t="t" l="l"/>
              <a:pathLst>
                <a:path h="6949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87" t="0" r="-4028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71450"/>
              <a:ext cx="9875520" cy="712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df.shape</a:t>
              </a:r>
            </a:p>
            <a:p>
              <a:pPr algn="l">
                <a:lnSpc>
                  <a:spcPts val="432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df.columns</a:t>
              </a:r>
            </a:p>
            <a:p>
              <a:pPr algn="l">
                <a:lnSpc>
                  <a:spcPts val="432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df.dtypes</a:t>
              </a:r>
            </a:p>
            <a:p>
              <a:pPr algn="l">
                <a:lnSpc>
                  <a:spcPts val="432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df.info()</a:t>
              </a:r>
            </a:p>
            <a:p>
              <a:pPr algn="l">
                <a:lnSpc>
                  <a:spcPts val="432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df.describe(include="all").T</a:t>
              </a:r>
            </a:p>
            <a:p>
              <a:pPr algn="l">
                <a:lnSpc>
                  <a:spcPts val="432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df.nunique(dropna=False)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0" y="2743200"/>
            <a:ext cx="7680960" cy="480060"/>
            <a:chOff x="0" y="0"/>
            <a:chExt cx="102412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THIS REVEALS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0" y="3429000"/>
            <a:ext cx="576072" cy="576072"/>
            <a:chOff x="0" y="0"/>
            <a:chExt cx="768096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01200" y="3429000"/>
            <a:ext cx="576072" cy="576072"/>
            <a:chOff x="0" y="0"/>
            <a:chExt cx="768096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96728" y="3346704"/>
            <a:ext cx="6885432" cy="754380"/>
            <a:chOff x="0" y="0"/>
            <a:chExt cx="9180576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805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45" r="0" b="-1278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80576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size (rows × columns)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0" y="4416552"/>
            <a:ext cx="576072" cy="576072"/>
            <a:chOff x="0" y="0"/>
            <a:chExt cx="768096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01200" y="4416552"/>
            <a:ext cx="576072" cy="576072"/>
            <a:chOff x="0" y="0"/>
            <a:chExt cx="768096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396728" y="4334256"/>
            <a:ext cx="6885432" cy="754380"/>
            <a:chOff x="0" y="0"/>
            <a:chExt cx="9180576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805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45" r="0" b="-12784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180576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Column names and structure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0" y="5404104"/>
            <a:ext cx="576072" cy="576072"/>
            <a:chOff x="0" y="0"/>
            <a:chExt cx="768096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01200" y="5404104"/>
            <a:ext cx="576072" cy="576072"/>
            <a:chOff x="0" y="0"/>
            <a:chExt cx="768096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396728" y="5321808"/>
            <a:ext cx="6885432" cy="754380"/>
            <a:chOff x="0" y="0"/>
            <a:chExt cx="9180576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805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45" r="0" b="-12784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80576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types of every feature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01200" y="6391656"/>
            <a:ext cx="576072" cy="576072"/>
            <a:chOff x="0" y="0"/>
            <a:chExt cx="768096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0" y="6391656"/>
            <a:ext cx="576072" cy="576072"/>
            <a:chOff x="0" y="0"/>
            <a:chExt cx="768096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396728" y="6309360"/>
            <a:ext cx="6885432" cy="754380"/>
            <a:chOff x="0" y="0"/>
            <a:chExt cx="9180576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805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45" r="0" b="-1278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180576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Presence of missing values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01200" y="7379208"/>
            <a:ext cx="576072" cy="576072"/>
            <a:chOff x="0" y="0"/>
            <a:chExt cx="768096" cy="7680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01200" y="7379208"/>
            <a:ext cx="576072" cy="576072"/>
            <a:chOff x="0" y="0"/>
            <a:chExt cx="768096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396728" y="7296912"/>
            <a:ext cx="6885432" cy="754380"/>
            <a:chOff x="0" y="0"/>
            <a:chExt cx="9180576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805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45" r="0" b="-12784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80576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Descriptive statistics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1200" y="8366760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601200" y="8366760"/>
            <a:ext cx="576072" cy="576072"/>
            <a:chOff x="0" y="0"/>
            <a:chExt cx="768096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396728" y="8284464"/>
            <a:ext cx="6885432" cy="754380"/>
            <a:chOff x="0" y="0"/>
            <a:chExt cx="9180576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80576" cy="1005840"/>
            </a:xfrm>
            <a:custGeom>
              <a:avLst/>
              <a:gdLst/>
              <a:ahLst/>
              <a:cxnLst/>
              <a:rect r="r" b="b" t="t" l="l"/>
              <a:pathLst>
                <a:path h="1005840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45" r="0" b="-12784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180576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unique values per column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QUALITY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Missing Value &amp; Duplicate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06040"/>
            <a:ext cx="9738360" cy="6720840"/>
            <a:chOff x="0" y="0"/>
            <a:chExt cx="12984480" cy="8961120"/>
          </a:xfrm>
        </p:grpSpPr>
        <p:sp>
          <p:nvSpPr>
            <p:cNvPr name="Freeform 11" id="11" descr="/home/claude/figs/missing_values.png"/>
            <p:cNvSpPr/>
            <p:nvPr/>
          </p:nvSpPr>
          <p:spPr>
            <a:xfrm flipH="false" flipV="false" rot="0">
              <a:off x="0" y="0"/>
              <a:ext cx="129844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042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0" y="2674620"/>
            <a:ext cx="6446520" cy="548640"/>
            <a:chOff x="0" y="0"/>
            <a:chExt cx="85953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5953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C729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df.isna().sum()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0" y="3291840"/>
            <a:ext cx="6720840" cy="1234440"/>
            <a:chOff x="0" y="0"/>
            <a:chExt cx="896112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611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85" r="0" b="-560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96112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values appear across seven numerical columns, ranging from ~2,000 to ~3,900 records each.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63275" y="4722495"/>
            <a:ext cx="6739890" cy="3173730"/>
            <a:chOff x="0" y="0"/>
            <a:chExt cx="8986520" cy="4231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865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89865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8839327" y="0"/>
                  </a:lnTo>
                  <a:cubicBezTo>
                    <a:pt x="8920607" y="0"/>
                    <a:pt x="8986520" y="65913"/>
                    <a:pt x="8986520" y="147193"/>
                  </a:cubicBezTo>
                  <a:lnTo>
                    <a:pt x="8986520" y="4084447"/>
                  </a:lnTo>
                  <a:cubicBezTo>
                    <a:pt x="8986520" y="4165727"/>
                    <a:pt x="8920607" y="4231640"/>
                    <a:pt x="883932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315700" y="4937760"/>
            <a:ext cx="5897880" cy="480060"/>
            <a:chOff x="0" y="0"/>
            <a:chExt cx="786384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 CHECK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15700" y="5486400"/>
            <a:ext cx="5897880" cy="480060"/>
            <a:chOff x="0" y="0"/>
            <a:chExt cx="786384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8638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df.duplicated().sum()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15700" y="6035040"/>
            <a:ext cx="5897880" cy="1028700"/>
            <a:chOff x="0" y="0"/>
            <a:chExt cx="786384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8638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15700" y="7063740"/>
            <a:ext cx="6035040" cy="685800"/>
            <a:chOff x="0" y="0"/>
            <a:chExt cx="804672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046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76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exact duplicate rows found in the supplied dataset.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Exploratory Data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06940" y="2606040"/>
            <a:ext cx="7543800" cy="6720840"/>
            <a:chOff x="0" y="0"/>
            <a:chExt cx="10058400" cy="8961120"/>
          </a:xfrm>
        </p:grpSpPr>
        <p:sp>
          <p:nvSpPr>
            <p:cNvPr name="Freeform 11" id="11" descr="/home/claude/figs/correlation_heatmap.png"/>
            <p:cNvSpPr/>
            <p:nvPr/>
          </p:nvSpPr>
          <p:spPr>
            <a:xfrm flipH="false" flipV="false" rot="0">
              <a:off x="0" y="0"/>
              <a:ext cx="1005840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81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674620"/>
            <a:ext cx="8229600" cy="480060"/>
            <a:chOff x="0" y="0"/>
            <a:chExt cx="109728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VISUALIZATIONS USED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3319272"/>
            <a:ext cx="137160" cy="137160"/>
            <a:chOff x="0" y="0"/>
            <a:chExt cx="182880" cy="182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3113532"/>
            <a:ext cx="7955280" cy="548640"/>
            <a:chOff x="0" y="0"/>
            <a:chExt cx="106070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 bar chart &amp; heatmap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3922776"/>
            <a:ext cx="137160" cy="137160"/>
            <a:chOff x="0" y="0"/>
            <a:chExt cx="182880" cy="182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3717036"/>
            <a:ext cx="7955280" cy="548640"/>
            <a:chOff x="0" y="0"/>
            <a:chExt cx="106070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Numerical histograms &amp; boxplots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120" y="4526280"/>
            <a:ext cx="137160" cy="137160"/>
            <a:chOff x="0" y="0"/>
            <a:chExt cx="182880" cy="182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03020" y="4320540"/>
            <a:ext cx="7955280" cy="548640"/>
            <a:chOff x="0" y="0"/>
            <a:chExt cx="106070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Categorical countplots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5129784"/>
            <a:ext cx="137160" cy="137160"/>
            <a:chOff x="0" y="0"/>
            <a:chExt cx="182880" cy="182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4924044"/>
            <a:ext cx="7955280" cy="548640"/>
            <a:chOff x="0" y="0"/>
            <a:chExt cx="106070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distribution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5733288"/>
            <a:ext cx="137160" cy="137160"/>
            <a:chOff x="0" y="0"/>
            <a:chExt cx="182880" cy="182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5527548"/>
            <a:ext cx="7955280" cy="548640"/>
            <a:chOff x="0" y="0"/>
            <a:chExt cx="106070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Correlation heatmap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6336792"/>
            <a:ext cx="137160" cy="137160"/>
            <a:chOff x="0" y="0"/>
            <a:chExt cx="182880" cy="182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6131052"/>
            <a:ext cx="7955280" cy="548640"/>
            <a:chOff x="0" y="0"/>
            <a:chExt cx="106070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vs. target boxplots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0120" y="6940296"/>
            <a:ext cx="137160" cy="137160"/>
            <a:chOff x="0" y="0"/>
            <a:chExt cx="182880" cy="182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03020" y="6734556"/>
            <a:ext cx="7955280" cy="548640"/>
            <a:chOff x="0" y="0"/>
            <a:chExt cx="106070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Scatterplots &amp; pairplot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" y="7406640"/>
            <a:ext cx="8435340" cy="1714500"/>
            <a:chOff x="0" y="0"/>
            <a:chExt cx="11247120" cy="2286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2471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139696"/>
                  </a:lnTo>
                  <a:cubicBezTo>
                    <a:pt x="11247120" y="2220468"/>
                    <a:pt x="11181588" y="2286000"/>
                    <a:pt x="11100816" y="2286000"/>
                  </a:cubicBezTo>
                  <a:lnTo>
                    <a:pt x="146304" y="2286000"/>
                  </a:lnTo>
                  <a:cubicBezTo>
                    <a:pt x="65532" y="2286000"/>
                    <a:pt x="0" y="2220468"/>
                    <a:pt x="0" y="213969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7612380"/>
            <a:ext cx="7818120" cy="1371600"/>
            <a:chOff x="0" y="0"/>
            <a:chExt cx="1042416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24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42416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EDA helps understand distributions, spot missing/unusual values, uncover feature relationships, and reveal how customer categories differ.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VARIABLE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Identifying the Prediction Target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10972800" cy="685800"/>
            <a:chOff x="0" y="0"/>
            <a:chExt cx="14630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630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target_column = </a:t>
              </a:r>
              <a:r>
                <a:rPr lang="en-US" sz="2400" b="true">
                  <a:solidFill>
                    <a:srgbClr val="1C729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"customer_segment"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566160"/>
            <a:ext cx="8092440" cy="2811780"/>
            <a:chOff x="0" y="0"/>
            <a:chExt cx="10789920" cy="3749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8992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602736"/>
                  </a:lnTo>
                  <a:cubicBezTo>
                    <a:pt x="10789920" y="3683508"/>
                    <a:pt x="10724388" y="3749040"/>
                    <a:pt x="10643616" y="3749040"/>
                  </a:cubicBezTo>
                  <a:lnTo>
                    <a:pt x="146304" y="3749040"/>
                  </a:lnTo>
                  <a:cubicBezTo>
                    <a:pt x="65532" y="3749040"/>
                    <a:pt x="0" y="3683508"/>
                    <a:pt x="0" y="3602736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3840480"/>
            <a:ext cx="7406640" cy="2331720"/>
            <a:chOff x="0" y="0"/>
            <a:chExt cx="9875520" cy="3108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3" r="0" b="-118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87552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print(df[target_column]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.value_counts(dropna=False))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print(df[target_column].nunique())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595" y="6642735"/>
            <a:ext cx="8111490" cy="2487930"/>
            <a:chOff x="0" y="0"/>
            <a:chExt cx="10815320" cy="3317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3317240"/>
            </a:xfrm>
            <a:custGeom>
              <a:avLst/>
              <a:gdLst/>
              <a:ahLst/>
              <a:cxnLst/>
              <a:rect r="r" b="b" t="t" l="l"/>
              <a:pathLst>
                <a:path h="3317240" w="108153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667873" y="0"/>
                  </a:lnTo>
                  <a:cubicBezTo>
                    <a:pt x="10749280" y="0"/>
                    <a:pt x="10815320" y="66040"/>
                    <a:pt x="10815320" y="147447"/>
                  </a:cubicBezTo>
                  <a:lnTo>
                    <a:pt x="10815320" y="3169793"/>
                  </a:lnTo>
                  <a:cubicBezTo>
                    <a:pt x="10815320" y="3251200"/>
                    <a:pt x="10749280" y="3317240"/>
                    <a:pt x="10667873" y="3317240"/>
                  </a:cubicBezTo>
                  <a:lnTo>
                    <a:pt x="147447" y="3317240"/>
                  </a:lnTo>
                  <a:cubicBezTo>
                    <a:pt x="66040" y="3317240"/>
                    <a:pt x="0" y="3251200"/>
                    <a:pt x="0" y="3169793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03020" y="6858000"/>
            <a:ext cx="4114800" cy="411480"/>
            <a:chOff x="0" y="0"/>
            <a:chExt cx="5486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3020" y="7269480"/>
            <a:ext cx="7406640" cy="1783080"/>
            <a:chOff x="0" y="0"/>
            <a:chExt cx="987552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755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87552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Occasional    22109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Regular       13455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Loyal          9163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High_Value     5273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44576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Number of classes: 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0" y="2674620"/>
            <a:ext cx="7680960" cy="6446520"/>
            <a:chOff x="0" y="0"/>
            <a:chExt cx="10241280" cy="8595360"/>
          </a:xfrm>
        </p:grpSpPr>
        <p:sp>
          <p:nvSpPr>
            <p:cNvPr name="Freeform 27" id="27" descr="/home/claude/figs/target_distribution.png"/>
            <p:cNvSpPr/>
            <p:nvPr/>
          </p:nvSpPr>
          <p:spPr>
            <a:xfrm flipH="false" flipV="false" rot="0">
              <a:off x="0" y="0"/>
              <a:ext cx="1024128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7499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Preparing a Clean, Consistent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7432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859536"/>
                  </a:lnTo>
                  <a:cubicBezTo>
                    <a:pt x="1005840" y="940308"/>
                    <a:pt x="940308" y="1005840"/>
                    <a:pt x="85953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74320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88820" y="2674620"/>
            <a:ext cx="15293340" cy="1303020"/>
            <a:chOff x="0" y="0"/>
            <a:chExt cx="20391120" cy="1737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91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391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81392" y="0"/>
                  </a:lnTo>
                  <a:cubicBezTo>
                    <a:pt x="20341971" y="0"/>
                    <a:pt x="20391120" y="49149"/>
                    <a:pt x="20391120" y="109728"/>
                  </a:cubicBezTo>
                  <a:lnTo>
                    <a:pt x="20391120" y="1627632"/>
                  </a:lnTo>
                  <a:cubicBezTo>
                    <a:pt x="20391120" y="1688211"/>
                    <a:pt x="20341971" y="1737360"/>
                    <a:pt x="2028139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331720" y="2770632"/>
            <a:ext cx="14676120" cy="548640"/>
            <a:chOff x="0" y="0"/>
            <a:chExt cx="195681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68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4" r="0" b="-4712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95681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 = df.drop_duplicates().copy()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31720" y="3291840"/>
            <a:ext cx="14676120" cy="548640"/>
            <a:chOff x="0" y="0"/>
            <a:chExt cx="1956816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68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4" r="0" b="-47122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568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D9E8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Removes exact duplicate records.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4457700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859536"/>
                  </a:lnTo>
                  <a:cubicBezTo>
                    <a:pt x="1005840" y="940308"/>
                    <a:pt x="940308" y="1005840"/>
                    <a:pt x="85953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0120" y="4457700"/>
            <a:ext cx="754380" cy="754380"/>
            <a:chOff x="0" y="0"/>
            <a:chExt cx="10058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88820" y="4389120"/>
            <a:ext cx="15293340" cy="1303020"/>
            <a:chOff x="0" y="0"/>
            <a:chExt cx="20391120" cy="1737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91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391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81392" y="0"/>
                  </a:lnTo>
                  <a:cubicBezTo>
                    <a:pt x="20341971" y="0"/>
                    <a:pt x="20391120" y="49149"/>
                    <a:pt x="20391120" y="109728"/>
                  </a:cubicBezTo>
                  <a:lnTo>
                    <a:pt x="20391120" y="1627632"/>
                  </a:lnTo>
                  <a:cubicBezTo>
                    <a:pt x="20391120" y="1688211"/>
                    <a:pt x="20341971" y="1737360"/>
                    <a:pt x="2028139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331720" y="4485132"/>
            <a:ext cx="14676120" cy="548640"/>
            <a:chOff x="0" y="0"/>
            <a:chExt cx="195681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68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4" r="0" b="-4712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95681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 = df.dropna(subset=[target_column]).copy()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331720" y="5006340"/>
            <a:ext cx="14676120" cy="548640"/>
            <a:chOff x="0" y="0"/>
            <a:chExt cx="195681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68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4" r="0" b="-47122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568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D9E8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Removes records where the target category is missing.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120" y="6172200"/>
            <a:ext cx="754380" cy="754380"/>
            <a:chOff x="0" y="0"/>
            <a:chExt cx="10058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9536" y="0"/>
                  </a:lnTo>
                  <a:cubicBezTo>
                    <a:pt x="940308" y="0"/>
                    <a:pt x="1005840" y="65532"/>
                    <a:pt x="1005840" y="146304"/>
                  </a:cubicBezTo>
                  <a:lnTo>
                    <a:pt x="1005840" y="859536"/>
                  </a:lnTo>
                  <a:cubicBezTo>
                    <a:pt x="1005840" y="940308"/>
                    <a:pt x="940308" y="1005840"/>
                    <a:pt x="859536" y="1005840"/>
                  </a:cubicBezTo>
                  <a:lnTo>
                    <a:pt x="146304" y="1005840"/>
                  </a:lnTo>
                  <a:cubicBezTo>
                    <a:pt x="65532" y="1005840"/>
                    <a:pt x="0" y="940308"/>
                    <a:pt x="0" y="85953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" y="6172200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88820" y="6103620"/>
            <a:ext cx="15293340" cy="1303020"/>
            <a:chOff x="0" y="0"/>
            <a:chExt cx="20391120" cy="1737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391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391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81392" y="0"/>
                  </a:lnTo>
                  <a:cubicBezTo>
                    <a:pt x="20341971" y="0"/>
                    <a:pt x="20391120" y="49149"/>
                    <a:pt x="20391120" y="109728"/>
                  </a:cubicBezTo>
                  <a:lnTo>
                    <a:pt x="20391120" y="1627632"/>
                  </a:lnTo>
                  <a:cubicBezTo>
                    <a:pt x="20391120" y="1688211"/>
                    <a:pt x="20341971" y="1737360"/>
                    <a:pt x="2028139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331720" y="6199632"/>
            <a:ext cx="14676120" cy="548640"/>
            <a:chOff x="0" y="0"/>
            <a:chExt cx="195681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568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4" r="0" b="-47122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95681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df[target_column] = df[target_column].astype(str)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331720" y="6720840"/>
            <a:ext cx="14676120" cy="548640"/>
            <a:chOff x="0" y="0"/>
            <a:chExt cx="195681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681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4" r="0" b="-4712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568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D9E8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Converts target labels into a consistent text format.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0595" y="8014335"/>
            <a:ext cx="16341090" cy="1184910"/>
            <a:chOff x="0" y="0"/>
            <a:chExt cx="21788120" cy="1579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788120" cy="1579880"/>
            </a:xfrm>
            <a:custGeom>
              <a:avLst/>
              <a:gdLst/>
              <a:ahLst/>
              <a:cxnLst/>
              <a:rect r="r" b="b" t="t" l="l"/>
              <a:pathLst>
                <a:path h="1579880" w="2178812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639403" y="0"/>
                  </a:lnTo>
                  <a:cubicBezTo>
                    <a:pt x="21721572" y="0"/>
                    <a:pt x="21788120" y="66548"/>
                    <a:pt x="21788120" y="148717"/>
                  </a:cubicBezTo>
                  <a:lnTo>
                    <a:pt x="21788120" y="1431163"/>
                  </a:lnTo>
                  <a:cubicBezTo>
                    <a:pt x="21788120" y="1513332"/>
                    <a:pt x="21721572" y="1579880"/>
                    <a:pt x="2163940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71600" y="8161020"/>
            <a:ext cx="15499080" cy="891540"/>
            <a:chOff x="0" y="0"/>
            <a:chExt cx="20665440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665439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39" r="0" b="-28873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06654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 </a:t>
              </a: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cleaned dataset (50,000 rows × 14 columns) is now ready for Machine Learning.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Feature and Target Separation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9738360" cy="3223260"/>
            <a:chOff x="0" y="0"/>
            <a:chExt cx="12984480" cy="4297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2984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838176" y="0"/>
                  </a:lnTo>
                  <a:cubicBezTo>
                    <a:pt x="12918948" y="0"/>
                    <a:pt x="12984480" y="65532"/>
                    <a:pt x="12984480" y="146304"/>
                  </a:cubicBezTo>
                  <a:lnTo>
                    <a:pt x="12984480" y="4151376"/>
                  </a:lnTo>
                  <a:cubicBezTo>
                    <a:pt x="12984480" y="4232148"/>
                    <a:pt x="12918948" y="4297680"/>
                    <a:pt x="1283817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948940"/>
            <a:ext cx="9052560" cy="2743200"/>
            <a:chOff x="0" y="0"/>
            <a:chExt cx="12070080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00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2070080" cy="3733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identifier_columns = ["customer_id"]</a:t>
              </a:r>
            </a:p>
            <a:p>
              <a:pPr algn="l">
                <a:lnSpc>
                  <a:spcPts val="3276"/>
                </a:lnSpc>
              </a:pP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= df.drop(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columns=[target_column] + identifier_columns</a:t>
              </a: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  <a:p>
              <a:pPr algn="l">
                <a:lnSpc>
                  <a:spcPts val="3276"/>
                </a:lnSpc>
              </a:pPr>
            </a:p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 = df[target_column]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0" y="2674620"/>
            <a:ext cx="6377940" cy="1508760"/>
            <a:chOff x="0" y="0"/>
            <a:chExt cx="8503920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039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503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57616" y="0"/>
                  </a:lnTo>
                  <a:cubicBezTo>
                    <a:pt x="8438388" y="0"/>
                    <a:pt x="8503920" y="65532"/>
                    <a:pt x="8503920" y="146304"/>
                  </a:cubicBezTo>
                  <a:lnTo>
                    <a:pt x="8503920" y="1865376"/>
                  </a:lnTo>
                  <a:cubicBezTo>
                    <a:pt x="8503920" y="1946148"/>
                    <a:pt x="8438388" y="2011680"/>
                    <a:pt x="835761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15700" y="2880360"/>
            <a:ext cx="5760720" cy="1097280"/>
            <a:chOff x="0" y="0"/>
            <a:chExt cx="768096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80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 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input features used by the model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0" y="4389120"/>
            <a:ext cx="6377940" cy="1508760"/>
            <a:chOff x="0" y="0"/>
            <a:chExt cx="8503920" cy="2011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39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503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57616" y="0"/>
                  </a:lnTo>
                  <a:cubicBezTo>
                    <a:pt x="8438388" y="0"/>
                    <a:pt x="8503920" y="65532"/>
                    <a:pt x="8503920" y="146304"/>
                  </a:cubicBezTo>
                  <a:lnTo>
                    <a:pt x="8503920" y="1865376"/>
                  </a:lnTo>
                  <a:cubicBezTo>
                    <a:pt x="8503920" y="1946148"/>
                    <a:pt x="8438388" y="2011680"/>
                    <a:pt x="835761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315700" y="4594860"/>
            <a:ext cx="5760720" cy="1097280"/>
            <a:chOff x="0" y="0"/>
            <a:chExt cx="768096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80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customer category to be predicted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0595" y="6231255"/>
            <a:ext cx="16409670" cy="2967990"/>
            <a:chOff x="0" y="0"/>
            <a:chExt cx="21879560" cy="3957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879559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879559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732367" y="0"/>
                  </a:lnTo>
                  <a:cubicBezTo>
                    <a:pt x="21813647" y="0"/>
                    <a:pt x="21879559" y="65913"/>
                    <a:pt x="21879559" y="147193"/>
                  </a:cubicBezTo>
                  <a:lnTo>
                    <a:pt x="21879559" y="3810127"/>
                  </a:lnTo>
                  <a:cubicBezTo>
                    <a:pt x="21879559" y="3891407"/>
                    <a:pt x="21813647" y="3957320"/>
                    <a:pt x="2173236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6515100"/>
            <a:ext cx="10972800" cy="480060"/>
            <a:chOff x="0" y="0"/>
            <a:chExt cx="146304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REMOVE customer_id 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7063740"/>
            <a:ext cx="15636240" cy="1920240"/>
            <a:chOff x="0" y="0"/>
            <a:chExt cx="20848320" cy="2560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848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20848320" cy="2665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customer_id is only an identifier — it does not represent customer behavior. Using it as a feature could let the model learn meaningless, non-generalizable patterns tied to record order rather than real customer traits.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Two Preprocessing Tracks: Numeric &amp; Categorical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811780"/>
            <a:ext cx="7886700" cy="6309360"/>
            <a:chOff x="0" y="0"/>
            <a:chExt cx="10515600" cy="8412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56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8266176"/>
                  </a:lnTo>
                  <a:cubicBezTo>
                    <a:pt x="10515600" y="8346948"/>
                    <a:pt x="10450068" y="8412480"/>
                    <a:pt x="1036929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154680"/>
            <a:ext cx="6858000" cy="548640"/>
            <a:chOff x="0" y="0"/>
            <a:chExt cx="91440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NUMERICAL FEATURES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08760" y="3977640"/>
            <a:ext cx="6858000" cy="1165860"/>
            <a:chOff x="0" y="0"/>
            <a:chExt cx="9144000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034272" y="0"/>
                  </a:lnTo>
                  <a:cubicBezTo>
                    <a:pt x="9094851" y="0"/>
                    <a:pt x="9144000" y="49149"/>
                    <a:pt x="9144000" y="109728"/>
                  </a:cubicBezTo>
                  <a:lnTo>
                    <a:pt x="9144000" y="1444752"/>
                  </a:lnTo>
                  <a:cubicBezTo>
                    <a:pt x="9144000" y="1505331"/>
                    <a:pt x="9094851" y="1554480"/>
                    <a:pt x="903427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51660" y="3977640"/>
            <a:ext cx="6309360" cy="1165860"/>
            <a:chOff x="0" y="0"/>
            <a:chExt cx="841248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2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48" r="0" b="-554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412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SimpleImputer(strategy="median")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8760" y="5184648"/>
            <a:ext cx="6858000" cy="548640"/>
            <a:chOff x="0" y="0"/>
            <a:chExt cx="9144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1440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E92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8760" y="5760720"/>
            <a:ext cx="6858000" cy="1165860"/>
            <a:chOff x="0" y="0"/>
            <a:chExt cx="914400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034272" y="0"/>
                  </a:lnTo>
                  <a:cubicBezTo>
                    <a:pt x="9094851" y="0"/>
                    <a:pt x="9144000" y="49149"/>
                    <a:pt x="9144000" y="109728"/>
                  </a:cubicBezTo>
                  <a:lnTo>
                    <a:pt x="9144000" y="1444752"/>
                  </a:lnTo>
                  <a:cubicBezTo>
                    <a:pt x="9144000" y="1505331"/>
                    <a:pt x="9094851" y="1554480"/>
                    <a:pt x="903427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51660" y="5760720"/>
            <a:ext cx="6309360" cy="1165860"/>
            <a:chOff x="0" y="0"/>
            <a:chExt cx="841248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12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48" r="0" b="-554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412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StandardScaler()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7406640"/>
            <a:ext cx="6926580" cy="1508760"/>
            <a:chOff x="0" y="0"/>
            <a:chExt cx="9235440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35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54" r="0" b="-3945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23544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D9E8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Missing values filled with the median; features rescaled to a common, standardized range.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95460" y="2811780"/>
            <a:ext cx="7886700" cy="6309360"/>
            <a:chOff x="0" y="0"/>
            <a:chExt cx="10515600" cy="8412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1560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8266176"/>
                  </a:lnTo>
                  <a:cubicBezTo>
                    <a:pt x="10515600" y="8346948"/>
                    <a:pt x="10450068" y="8412480"/>
                    <a:pt x="1036929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06940" y="3154680"/>
            <a:ext cx="6858000" cy="548640"/>
            <a:chOff x="0" y="0"/>
            <a:chExt cx="91440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CATEGORICAL FEATURES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944100" y="3977640"/>
            <a:ext cx="6858000" cy="1165860"/>
            <a:chOff x="0" y="0"/>
            <a:chExt cx="914400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034272" y="0"/>
                  </a:lnTo>
                  <a:cubicBezTo>
                    <a:pt x="9094851" y="0"/>
                    <a:pt x="9144000" y="49149"/>
                    <a:pt x="9144000" y="109728"/>
                  </a:cubicBezTo>
                  <a:lnTo>
                    <a:pt x="9144000" y="1444752"/>
                  </a:lnTo>
                  <a:cubicBezTo>
                    <a:pt x="9144000" y="1505331"/>
                    <a:pt x="9094851" y="1554480"/>
                    <a:pt x="903427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5657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0" y="3977640"/>
            <a:ext cx="6309360" cy="1165860"/>
            <a:chOff x="0" y="0"/>
            <a:chExt cx="8412480" cy="1554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48" r="0" b="-5544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412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FF3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SimpleImputer(strategy="most_frequent")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44100" y="5184648"/>
            <a:ext cx="6858000" cy="548640"/>
            <a:chOff x="0" y="0"/>
            <a:chExt cx="91440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91440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44100" y="5760720"/>
            <a:ext cx="6858000" cy="1165860"/>
            <a:chOff x="0" y="0"/>
            <a:chExt cx="914400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1440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034272" y="0"/>
                  </a:lnTo>
                  <a:cubicBezTo>
                    <a:pt x="9094851" y="0"/>
                    <a:pt x="9144000" y="49149"/>
                    <a:pt x="9144000" y="109728"/>
                  </a:cubicBezTo>
                  <a:lnTo>
                    <a:pt x="9144000" y="1444752"/>
                  </a:lnTo>
                  <a:cubicBezTo>
                    <a:pt x="9144000" y="1505331"/>
                    <a:pt x="9094851" y="1554480"/>
                    <a:pt x="903427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5657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87000" y="5760720"/>
            <a:ext cx="6309360" cy="1165860"/>
            <a:chOff x="0" y="0"/>
            <a:chExt cx="841248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12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48" r="0" b="-5544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412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FF3E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OneHotEncoder(handle_unknown="ignore")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944100" y="7406640"/>
            <a:ext cx="6926580" cy="1508760"/>
            <a:chOff x="0" y="0"/>
            <a:chExt cx="9235440" cy="2011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235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454" r="0" b="-3945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23544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Missing categories filled with the mode; text categories converted into numerical indicator columns.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 ⭐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Building the Preprocessing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306050" cy="6671310"/>
            <a:chOff x="0" y="0"/>
            <a:chExt cx="13741400" cy="889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37414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3631418" y="0"/>
                  </a:lnTo>
                  <a:cubicBezTo>
                    <a:pt x="13692124" y="0"/>
                    <a:pt x="13741400" y="49276"/>
                    <a:pt x="13741400" y="109982"/>
                  </a:cubicBezTo>
                  <a:lnTo>
                    <a:pt x="13741400" y="8785098"/>
                  </a:lnTo>
                  <a:cubicBezTo>
                    <a:pt x="13741400" y="8845804"/>
                    <a:pt x="13692124" y="8895080"/>
                    <a:pt x="13631418" y="8895080"/>
                  </a:cubicBezTo>
                  <a:lnTo>
                    <a:pt x="109982" y="8895080"/>
                  </a:lnTo>
                  <a:cubicBezTo>
                    <a:pt x="49276" y="8895080"/>
                    <a:pt x="0" y="8845804"/>
                    <a:pt x="0" y="8785098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7300" y="2966085"/>
            <a:ext cx="9418320" cy="610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numeric_pipeline = Pipeline([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("imputer",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 SimpleImputer(strategy="median")),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("scaler", StandardScaler())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categorical_pipeline = Pipeline([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("imputer",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 SimpleImputer(strategy="most_frequent")),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("onehot",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 OneHotEncoder(handle_unknown="ignore"))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preprocessor = ColumnTransformer(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transformers=transformers,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remainder="drop"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52860" y="2674620"/>
            <a:ext cx="5897880" cy="480060"/>
            <a:chOff x="0" y="0"/>
            <a:chExt cx="78638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CONCEPT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2860" y="3332988"/>
            <a:ext cx="150876" cy="150876"/>
            <a:chOff x="0" y="0"/>
            <a:chExt cx="201168" cy="201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0" y="311162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Wraps all steps into a single reusable pipeline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2860" y="4320540"/>
            <a:ext cx="150876" cy="150876"/>
            <a:chOff x="0" y="0"/>
            <a:chExt cx="201168" cy="201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87200" y="4099179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Numeric and categorical logic run in parallel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2860" y="53080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0" y="5086731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consistently during both training and prediction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52860" y="6295644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87200" y="6074283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Prevents data leakage between train and test sets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SETUP ⭐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Splitting the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8934450" cy="2762250"/>
            <a:chOff x="0" y="0"/>
            <a:chExt cx="11912600" cy="368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12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1912600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1802110" y="0"/>
                  </a:lnTo>
                  <a:cubicBezTo>
                    <a:pt x="11863070" y="0"/>
                    <a:pt x="11912600" y="49530"/>
                    <a:pt x="11912600" y="110490"/>
                  </a:cubicBezTo>
                  <a:lnTo>
                    <a:pt x="11912600" y="3572510"/>
                  </a:lnTo>
                  <a:cubicBezTo>
                    <a:pt x="11912600" y="3633470"/>
                    <a:pt x="11863070" y="3683000"/>
                    <a:pt x="11802110" y="3683000"/>
                  </a:cubicBezTo>
                  <a:lnTo>
                    <a:pt x="110490" y="3683000"/>
                  </a:lnTo>
                  <a:cubicBezTo>
                    <a:pt x="49530" y="3683000"/>
                    <a:pt x="0" y="3633470"/>
                    <a:pt x="0" y="3572510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948940"/>
            <a:ext cx="8229600" cy="2194560"/>
            <a:chOff x="0" y="0"/>
            <a:chExt cx="10972800" cy="2926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97280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X_train, X_test, y_train, y_test = \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train_test_split(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X, y,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test_size=0.2,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random_state=42,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stratify=y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692140"/>
            <a:ext cx="8915400" cy="480060"/>
            <a:chOff x="0" y="0"/>
            <a:chExt cx="118872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1887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92C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test_size=0.2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6172200"/>
            <a:ext cx="8915400" cy="480060"/>
            <a:chOff x="0" y="0"/>
            <a:chExt cx="118872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887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20% of data reserved for testing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6761988"/>
            <a:ext cx="8915400" cy="480060"/>
            <a:chOff x="0" y="0"/>
            <a:chExt cx="118872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1887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92C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random_state=42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7242048"/>
            <a:ext cx="8915400" cy="480060"/>
            <a:chOff x="0" y="0"/>
            <a:chExt cx="1188720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887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Makes the split reproducible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7831836"/>
            <a:ext cx="8915400" cy="480060"/>
            <a:chOff x="0" y="0"/>
            <a:chExt cx="118872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887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E92C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stratify=y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8311896"/>
            <a:ext cx="8915400" cy="480060"/>
            <a:chOff x="0" y="0"/>
            <a:chExt cx="1188720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887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Keeps class proportions consistent across splits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0" y="2674620"/>
            <a:ext cx="6858000" cy="480060"/>
            <a:chOff x="0" y="0"/>
            <a:chExt cx="914400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SPLIT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0" y="3291840"/>
            <a:ext cx="7063740" cy="754380"/>
            <a:chOff x="0" y="0"/>
            <a:chExt cx="941832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8915400" y="0"/>
                  </a:lnTo>
                  <a:cubicBezTo>
                    <a:pt x="9193149" y="0"/>
                    <a:pt x="9418320" y="225171"/>
                    <a:pt x="9418320" y="502920"/>
                  </a:cubicBezTo>
                  <a:cubicBezTo>
                    <a:pt x="9418320" y="780669"/>
                    <a:pt x="9193149" y="1005840"/>
                    <a:pt x="8915400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0" y="3291840"/>
            <a:ext cx="5650992" cy="754380"/>
            <a:chOff x="0" y="0"/>
            <a:chExt cx="7534656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346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7534656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lnTo>
                    <a:pt x="7031736" y="0"/>
                  </a:lnTo>
                  <a:cubicBezTo>
                    <a:pt x="7309485" y="0"/>
                    <a:pt x="7534656" y="225171"/>
                    <a:pt x="7534656" y="502920"/>
                  </a:cubicBezTo>
                  <a:cubicBezTo>
                    <a:pt x="7534656" y="780669"/>
                    <a:pt x="7309485" y="1005840"/>
                    <a:pt x="7031736" y="1005840"/>
                  </a:cubicBezTo>
                  <a:lnTo>
                    <a:pt x="502920" y="1005840"/>
                  </a:ln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561320" y="3291840"/>
            <a:ext cx="3429000" cy="754380"/>
            <a:chOff x="0" y="0"/>
            <a:chExt cx="457200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5720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 Train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76120" y="3291840"/>
            <a:ext cx="2606040" cy="754380"/>
            <a:chOff x="0" y="0"/>
            <a:chExt cx="347472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74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1" r="0" b="-1731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4747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E8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20% Test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87000" y="4457700"/>
            <a:ext cx="3360420" cy="2125980"/>
            <a:chOff x="0" y="0"/>
            <a:chExt cx="4480560" cy="2834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805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4805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334256" y="0"/>
                  </a:lnTo>
                  <a:cubicBezTo>
                    <a:pt x="4415028" y="0"/>
                    <a:pt x="4480560" y="65532"/>
                    <a:pt x="4480560" y="146304"/>
                  </a:cubicBezTo>
                  <a:lnTo>
                    <a:pt x="4480560" y="2688336"/>
                  </a:lnTo>
                  <a:cubicBezTo>
                    <a:pt x="4480560" y="2769108"/>
                    <a:pt x="4415028" y="2834640"/>
                    <a:pt x="433425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287000" y="4663440"/>
            <a:ext cx="3360420" cy="960120"/>
            <a:chOff x="0" y="0"/>
            <a:chExt cx="448056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4805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40,000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0" y="5623560"/>
            <a:ext cx="3360420" cy="754380"/>
            <a:chOff x="0" y="0"/>
            <a:chExt cx="448056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80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4805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records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990320" y="4457700"/>
            <a:ext cx="3360420" cy="2125980"/>
            <a:chOff x="0" y="0"/>
            <a:chExt cx="4480560" cy="2834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805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4805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334256" y="0"/>
                  </a:lnTo>
                  <a:cubicBezTo>
                    <a:pt x="4415028" y="0"/>
                    <a:pt x="4480560" y="65532"/>
                    <a:pt x="4480560" y="146304"/>
                  </a:cubicBezTo>
                  <a:lnTo>
                    <a:pt x="4480560" y="2688336"/>
                  </a:lnTo>
                  <a:cubicBezTo>
                    <a:pt x="4480560" y="2769108"/>
                    <a:pt x="4415028" y="2834640"/>
                    <a:pt x="433425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990320" y="4663440"/>
            <a:ext cx="3360420" cy="960120"/>
            <a:chOff x="0" y="0"/>
            <a:chExt cx="4480560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4805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10,000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990320" y="5623560"/>
            <a:ext cx="3360420" cy="754380"/>
            <a:chOff x="0" y="0"/>
            <a:chExt cx="448056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805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805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Testing records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⭐⭐⭐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Multinomial Logistic Regression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306050" cy="6671310"/>
            <a:chOff x="0" y="0"/>
            <a:chExt cx="13741400" cy="889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37414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3631418" y="0"/>
                  </a:lnTo>
                  <a:cubicBezTo>
                    <a:pt x="13692124" y="0"/>
                    <a:pt x="13741400" y="49276"/>
                    <a:pt x="13741400" y="109982"/>
                  </a:cubicBezTo>
                  <a:lnTo>
                    <a:pt x="13741400" y="8785098"/>
                  </a:lnTo>
                  <a:cubicBezTo>
                    <a:pt x="13741400" y="8845804"/>
                    <a:pt x="13692124" y="8895080"/>
                    <a:pt x="13631418" y="8895080"/>
                  </a:cubicBezTo>
                  <a:lnTo>
                    <a:pt x="109982" y="8895080"/>
                  </a:lnTo>
                  <a:cubicBezTo>
                    <a:pt x="49276" y="8895080"/>
                    <a:pt x="0" y="8845804"/>
                    <a:pt x="0" y="8785098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7300" y="2966085"/>
            <a:ext cx="9418320" cy="610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model = Pipeline([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("preprocessor", preprocessor),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("classifier",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    LogisticRegression(max_iter=1000)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52860" y="2674620"/>
            <a:ext cx="5897880" cy="480060"/>
            <a:chOff x="0" y="0"/>
            <a:chExt cx="78638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LOGISTIC REGRESSION?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2860" y="3332988"/>
            <a:ext cx="150876" cy="150876"/>
            <a:chOff x="0" y="0"/>
            <a:chExt cx="201168" cy="201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0" y="311162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multiple classes at once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2860" y="4320540"/>
            <a:ext cx="150876" cy="150876"/>
            <a:chOff x="0" y="0"/>
            <a:chExt cx="201168" cy="201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87200" y="4099179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class probabilities / scores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2860" y="53080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0" y="5086731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Performs well on properly scaled features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52860" y="6295644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87200" y="6074283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Easier to interpret than many complex models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52860" y="7283196"/>
            <a:ext cx="150876" cy="150876"/>
            <a:chOff x="0" y="0"/>
            <a:chExt cx="201168" cy="201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887200" y="7061835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Target has 4 classes → this is inherently a multiclass problem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⭐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Training the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7406640" cy="1440180"/>
            <a:chOff x="0" y="0"/>
            <a:chExt cx="987552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55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875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765792" y="0"/>
                  </a:lnTo>
                  <a:cubicBezTo>
                    <a:pt x="9826372" y="0"/>
                    <a:pt x="9875520" y="49149"/>
                    <a:pt x="9875520" y="109728"/>
                  </a:cubicBezTo>
                  <a:lnTo>
                    <a:pt x="9875520" y="1810512"/>
                  </a:lnTo>
                  <a:cubicBezTo>
                    <a:pt x="9875520" y="1871091"/>
                    <a:pt x="9826372" y="1920240"/>
                    <a:pt x="976579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674620"/>
            <a:ext cx="6858000" cy="1440180"/>
            <a:chOff x="0" y="0"/>
            <a:chExt cx="9144000" cy="1920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14400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model.fit(X_train, y_train)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4389120"/>
            <a:ext cx="7680960" cy="2194560"/>
            <a:chOff x="0" y="0"/>
            <a:chExt cx="1024128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024128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 learns the relationship between customer features and customer category using the training data, then generalizes that pattern to unseen customers.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0" y="2674620"/>
            <a:ext cx="6858000" cy="480060"/>
            <a:chOff x="0" y="0"/>
            <a:chExt cx="91440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 FLOW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0" y="3223260"/>
            <a:ext cx="7543800" cy="822960"/>
            <a:chOff x="0" y="0"/>
            <a:chExt cx="100584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9509760" y="0"/>
                  </a:lnTo>
                  <a:cubicBezTo>
                    <a:pt x="9812782" y="0"/>
                    <a:pt x="10058400" y="245618"/>
                    <a:pt x="10058400" y="548640"/>
                  </a:cubicBezTo>
                  <a:cubicBezTo>
                    <a:pt x="10058400" y="851662"/>
                    <a:pt x="9812782" y="1097280"/>
                    <a:pt x="950976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01200" y="3223260"/>
            <a:ext cx="7543800" cy="822960"/>
            <a:chOff x="0" y="0"/>
            <a:chExt cx="100584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058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Customer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0" y="3826764"/>
            <a:ext cx="7543800" cy="411480"/>
            <a:chOff x="0" y="0"/>
            <a:chExt cx="10058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0" y="4210812"/>
            <a:ext cx="7543800" cy="822960"/>
            <a:chOff x="0" y="0"/>
            <a:chExt cx="100584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9509760" y="0"/>
                  </a:lnTo>
                  <a:cubicBezTo>
                    <a:pt x="9812782" y="0"/>
                    <a:pt x="10058400" y="245618"/>
                    <a:pt x="10058400" y="548640"/>
                  </a:cubicBezTo>
                  <a:cubicBezTo>
                    <a:pt x="10058400" y="851662"/>
                    <a:pt x="9812782" y="1097280"/>
                    <a:pt x="950976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01200" y="4210812"/>
            <a:ext cx="7543800" cy="822960"/>
            <a:chOff x="0" y="0"/>
            <a:chExt cx="1005840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058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 Handling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1200" y="4814316"/>
            <a:ext cx="7543800" cy="411480"/>
            <a:chOff x="0" y="0"/>
            <a:chExt cx="10058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0" y="5198364"/>
            <a:ext cx="7543800" cy="822960"/>
            <a:chOff x="0" y="0"/>
            <a:chExt cx="100584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9509760" y="0"/>
                  </a:lnTo>
                  <a:cubicBezTo>
                    <a:pt x="9812782" y="0"/>
                    <a:pt x="10058400" y="245618"/>
                    <a:pt x="10058400" y="548640"/>
                  </a:cubicBezTo>
                  <a:cubicBezTo>
                    <a:pt x="10058400" y="851662"/>
                    <a:pt x="9812782" y="1097280"/>
                    <a:pt x="950976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01200" y="5198364"/>
            <a:ext cx="7543800" cy="822960"/>
            <a:chOff x="0" y="0"/>
            <a:chExt cx="100584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058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Scaling / Encoding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0" y="5801868"/>
            <a:ext cx="7543800" cy="411480"/>
            <a:chOff x="0" y="0"/>
            <a:chExt cx="10058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01200" y="6185916"/>
            <a:ext cx="7543800" cy="822960"/>
            <a:chOff x="0" y="0"/>
            <a:chExt cx="1005840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9509760" y="0"/>
                  </a:lnTo>
                  <a:cubicBezTo>
                    <a:pt x="9812782" y="0"/>
                    <a:pt x="10058400" y="245618"/>
                    <a:pt x="10058400" y="548640"/>
                  </a:cubicBezTo>
                  <a:cubicBezTo>
                    <a:pt x="10058400" y="851662"/>
                    <a:pt x="9812782" y="1097280"/>
                    <a:pt x="950976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0" y="6185916"/>
            <a:ext cx="7543800" cy="822960"/>
            <a:chOff x="0" y="0"/>
            <a:chExt cx="1005840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058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Logistic Regression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6789420"/>
            <a:ext cx="7543800" cy="411480"/>
            <a:chOff x="0" y="0"/>
            <a:chExt cx="10058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058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01200" y="7173468"/>
            <a:ext cx="7543800" cy="822960"/>
            <a:chOff x="0" y="0"/>
            <a:chExt cx="1005840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9509760" y="0"/>
                  </a:lnTo>
                  <a:cubicBezTo>
                    <a:pt x="9812782" y="0"/>
                    <a:pt x="10058400" y="245618"/>
                    <a:pt x="10058400" y="548640"/>
                  </a:cubicBezTo>
                  <a:cubicBezTo>
                    <a:pt x="10058400" y="851662"/>
                    <a:pt x="9812782" y="1097280"/>
                    <a:pt x="950976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01200" y="7173468"/>
            <a:ext cx="7543800" cy="822960"/>
            <a:chOff x="0" y="0"/>
            <a:chExt cx="1005840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0584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Category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Predicting Customer Categories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74620"/>
            <a:ext cx="16322040" cy="1920240"/>
            <a:chOff x="0" y="0"/>
            <a:chExt cx="21762720" cy="2560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2450592"/>
                  </a:lnTo>
                  <a:cubicBezTo>
                    <a:pt x="21762720" y="2511171"/>
                    <a:pt x="21713571" y="2560320"/>
                    <a:pt x="21652992" y="2560320"/>
                  </a:cubicBezTo>
                  <a:lnTo>
                    <a:pt x="109728" y="2560320"/>
                  </a:lnTo>
                  <a:cubicBezTo>
                    <a:pt x="49149" y="2560320"/>
                    <a:pt x="0" y="2511171"/>
                    <a:pt x="0" y="2450592"/>
                  </a:cubicBezTo>
                  <a:close/>
                </a:path>
              </a:pathLst>
            </a:custGeom>
            <a:solidFill>
              <a:srgbClr val="0718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811780"/>
            <a:ext cx="15636240" cy="1645920"/>
            <a:chOff x="0" y="0"/>
            <a:chExt cx="2084832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4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084832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y_pred = model.predict(X_test)</a:t>
              </a:r>
            </a:p>
            <a:p>
              <a:pPr algn="l">
                <a:lnSpc>
                  <a:spcPts val="3042"/>
                </a:lnSpc>
              </a:pP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comparison = pd.DataFrame({"Actual category": y_test, "Predicted category": y_pred})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4869180"/>
            <a:ext cx="12344400" cy="480060"/>
            <a:chOff x="0" y="0"/>
            <a:chExt cx="164592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comparison.head(10)  —  ACTUAL vs PREDICTED SAMPLE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960120" y="5417820"/>
          <a:ext cx="16306800" cy="4191000"/>
        </p:xfrm>
        <a:graphic>
          <a:graphicData uri="http://schemas.openxmlformats.org/drawingml/2006/table">
            <a:tbl>
              <a:tblPr/>
              <a:tblGrid>
                <a:gridCol w="8153400"/>
                <a:gridCol w="8153400"/>
              </a:tblGrid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Actual 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Predicted 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6B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6B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6B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6B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D8A4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D8A4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D8A4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D8A4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D8A4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Loyal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D8A4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⭐⭐⭐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Evaluation Metrics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306050" cy="6671310"/>
            <a:chOff x="0" y="0"/>
            <a:chExt cx="13741400" cy="889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37414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3631418" y="0"/>
                  </a:lnTo>
                  <a:cubicBezTo>
                    <a:pt x="13692124" y="0"/>
                    <a:pt x="13741400" y="49276"/>
                    <a:pt x="13741400" y="109982"/>
                  </a:cubicBezTo>
                  <a:lnTo>
                    <a:pt x="13741400" y="8785098"/>
                  </a:lnTo>
                  <a:cubicBezTo>
                    <a:pt x="13741400" y="8845804"/>
                    <a:pt x="13692124" y="8895080"/>
                    <a:pt x="13631418" y="8895080"/>
                  </a:cubicBezTo>
                  <a:lnTo>
                    <a:pt x="109982" y="8895080"/>
                  </a:lnTo>
                  <a:cubicBezTo>
                    <a:pt x="49276" y="8895080"/>
                    <a:pt x="0" y="8845804"/>
                    <a:pt x="0" y="8785098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7300" y="2966085"/>
            <a:ext cx="9418320" cy="610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accuracy = accuracy_score(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y_test, y_pred)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precision = precision_score(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y_test, y_pred, average="weighted")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recall = recall_score(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y_test, y_pred, average="weighted")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f1 = f1_score(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y_test, y_pred, average="weighted")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52860" y="2674620"/>
            <a:ext cx="5897880" cy="480060"/>
            <a:chOff x="0" y="0"/>
            <a:chExt cx="78638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METRICS USED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2860" y="3332988"/>
            <a:ext cx="150876" cy="150876"/>
            <a:chOff x="0" y="0"/>
            <a:chExt cx="201168" cy="201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0" y="311162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— % of predictions that are correct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2860" y="4320540"/>
            <a:ext cx="150876" cy="150876"/>
            <a:chOff x="0" y="0"/>
            <a:chExt cx="201168" cy="201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87200" y="4099179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 — of predicted-class instances, how many were correct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2860" y="53080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0" y="5086731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Recall — of actual-class instances, how many were found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52860" y="6295644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87200" y="6074283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F1-Score — harmonic balance of precision and recall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Classification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60120" y="2880360"/>
          <a:ext cx="16306800" cy="5200650"/>
        </p:xfrm>
        <a:graphic>
          <a:graphicData uri="http://schemas.openxmlformats.org/drawingml/2006/table">
            <a:tbl>
              <a:tblPr/>
              <a:tblGrid>
                <a:gridCol w="4642961"/>
                <a:gridCol w="2915960"/>
                <a:gridCol w="2915960"/>
                <a:gridCol w="2915960"/>
                <a:gridCol w="2915960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Support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4576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High_Value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4576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Loyal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1,832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4576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Occasional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4,422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4576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4457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2,691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Weighted Avg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4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1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960120" y="8435340"/>
            <a:ext cx="16322040" cy="822960"/>
            <a:chOff x="0" y="0"/>
            <a:chExt cx="217627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762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44576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Occasional (the majority class) is predicted most reliably; Regular shows the weakest separation, often confused with Occasional and Loyal.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⭐⭐⭐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Confusion Matrix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8915400" cy="6995160"/>
            <a:chOff x="0" y="0"/>
            <a:chExt cx="11887200" cy="9326880"/>
          </a:xfrm>
        </p:grpSpPr>
        <p:sp>
          <p:nvSpPr>
            <p:cNvPr name="Freeform 11" id="11" descr="/home/claude/figs/confusion_matrix.png"/>
            <p:cNvSpPr/>
            <p:nvPr/>
          </p:nvSpPr>
          <p:spPr>
            <a:xfrm flipH="false" flipV="false" rot="0">
              <a:off x="0" y="0"/>
              <a:ext cx="11887200" cy="9326880"/>
            </a:xfrm>
            <a:custGeom>
              <a:avLst/>
              <a:gdLst/>
              <a:ahLst/>
              <a:cxnLst/>
              <a:rect r="r" b="b" t="t" l="l"/>
              <a:pathLst>
                <a:path h="93268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9326880"/>
                  </a:lnTo>
                  <a:lnTo>
                    <a:pt x="0" y="932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924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9840" y="2743200"/>
            <a:ext cx="7132320" cy="480060"/>
            <a:chOff x="0" y="0"/>
            <a:chExt cx="950976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SHOWS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9840" y="3291840"/>
            <a:ext cx="7132320" cy="1097280"/>
            <a:chOff x="0" y="0"/>
            <a:chExt cx="95097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509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Compares each customer's Actual Category against the Predicted Category from the model.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49840" y="4594860"/>
            <a:ext cx="7132320" cy="1165860"/>
            <a:chOff x="0" y="0"/>
            <a:chExt cx="950976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363456" y="0"/>
                  </a:lnTo>
                  <a:cubicBezTo>
                    <a:pt x="9444228" y="0"/>
                    <a:pt x="9509761" y="65532"/>
                    <a:pt x="9509761" y="146304"/>
                  </a:cubicBezTo>
                  <a:lnTo>
                    <a:pt x="9509761" y="1408176"/>
                  </a:lnTo>
                  <a:cubicBezTo>
                    <a:pt x="9509761" y="1488948"/>
                    <a:pt x="9444228" y="1554480"/>
                    <a:pt x="936345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92740" y="4594860"/>
            <a:ext cx="6446520" cy="1165860"/>
            <a:chOff x="0" y="0"/>
            <a:chExt cx="859536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5953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Diagonal values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correct predictions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49840" y="5966460"/>
            <a:ext cx="7132320" cy="1165860"/>
            <a:chOff x="0" y="0"/>
            <a:chExt cx="950976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363456" y="0"/>
                  </a:lnTo>
                  <a:cubicBezTo>
                    <a:pt x="9444228" y="0"/>
                    <a:pt x="9509761" y="65532"/>
                    <a:pt x="9509761" y="146304"/>
                  </a:cubicBezTo>
                  <a:lnTo>
                    <a:pt x="9509761" y="1408176"/>
                  </a:lnTo>
                  <a:cubicBezTo>
                    <a:pt x="9509761" y="1488948"/>
                    <a:pt x="9444228" y="1554480"/>
                    <a:pt x="936345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92740" y="5966460"/>
            <a:ext cx="6446520" cy="1165860"/>
            <a:chOff x="0" y="0"/>
            <a:chExt cx="859536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5953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Off-diagonal values  </a:t>
              </a: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misclassifications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49840" y="7475220"/>
            <a:ext cx="7132320" cy="1645920"/>
            <a:chOff x="0" y="0"/>
            <a:chExt cx="950976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09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4576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Regular customers are the most frequently confused, especially with Occasional — reflecting overlapping behavior between adjacent segments.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STUDY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Sample Customer Prediction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031730" cy="4133850"/>
            <a:chOff x="0" y="0"/>
            <a:chExt cx="13375640" cy="551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75641" cy="5511800"/>
            </a:xfrm>
            <a:custGeom>
              <a:avLst/>
              <a:gdLst/>
              <a:ahLst/>
              <a:cxnLst/>
              <a:rect r="r" b="b" t="t" l="l"/>
              <a:pathLst>
                <a:path h="5511800" w="1337564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265404" y="0"/>
                  </a:lnTo>
                  <a:cubicBezTo>
                    <a:pt x="13326238" y="0"/>
                    <a:pt x="13375641" y="49403"/>
                    <a:pt x="13375641" y="110236"/>
                  </a:cubicBezTo>
                  <a:lnTo>
                    <a:pt x="13375641" y="5401564"/>
                  </a:lnTo>
                  <a:cubicBezTo>
                    <a:pt x="13375641" y="5462397"/>
                    <a:pt x="13326238" y="5511800"/>
                    <a:pt x="13265404" y="5511800"/>
                  </a:cubicBezTo>
                  <a:lnTo>
                    <a:pt x="110236" y="5511800"/>
                  </a:lnTo>
                  <a:cubicBezTo>
                    <a:pt x="49403" y="5511800"/>
                    <a:pt x="0" y="5462397"/>
                    <a:pt x="0" y="5401564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948940"/>
            <a:ext cx="9326880" cy="3566160"/>
            <a:chOff x="0" y="0"/>
            <a:chExt cx="12435840" cy="4754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358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0" r="0" b="-9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2435840" cy="484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sample = X_test.iloc[[0]]</a:t>
              </a:r>
            </a:p>
            <a:p>
              <a:pPr algn="l">
                <a:lnSpc>
                  <a:spcPts val="3159"/>
                </a:lnSpc>
              </a:pP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prediction = model.predict(sample)</a:t>
              </a:r>
            </a:p>
            <a:p>
              <a:pPr algn="l">
                <a:lnSpc>
                  <a:spcPts val="3159"/>
                </a:lnSpc>
              </a:pP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print("Predicted Customer Category:",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prediction[0])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print("Actual Customer Category:",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9FE6C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y_test.iloc[0])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78540" y="2674620"/>
            <a:ext cx="6240780" cy="1920240"/>
            <a:chOff x="0" y="0"/>
            <a:chExt cx="8321040" cy="2560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210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321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174736" y="0"/>
                  </a:lnTo>
                  <a:cubicBezTo>
                    <a:pt x="8255508" y="0"/>
                    <a:pt x="8321040" y="65532"/>
                    <a:pt x="8321040" y="146304"/>
                  </a:cubicBezTo>
                  <a:lnTo>
                    <a:pt x="8321040" y="2414016"/>
                  </a:lnTo>
                  <a:cubicBezTo>
                    <a:pt x="8321040" y="2494788"/>
                    <a:pt x="8255508" y="2560320"/>
                    <a:pt x="8174736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521440" y="2880360"/>
            <a:ext cx="5486400" cy="480060"/>
            <a:chOff x="0" y="0"/>
            <a:chExt cx="73152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21440" y="3291840"/>
            <a:ext cx="5486400" cy="1165860"/>
            <a:chOff x="0" y="0"/>
            <a:chExt cx="731520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3152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Regular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78540" y="4869180"/>
            <a:ext cx="6240780" cy="1920240"/>
            <a:chOff x="0" y="0"/>
            <a:chExt cx="832104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210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321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174736" y="0"/>
                  </a:lnTo>
                  <a:cubicBezTo>
                    <a:pt x="8255508" y="0"/>
                    <a:pt x="8321040" y="65532"/>
                    <a:pt x="8321040" y="146304"/>
                  </a:cubicBezTo>
                  <a:lnTo>
                    <a:pt x="8321040" y="2414016"/>
                  </a:lnTo>
                  <a:cubicBezTo>
                    <a:pt x="8321040" y="2494788"/>
                    <a:pt x="8255508" y="2560320"/>
                    <a:pt x="8174736" y="2560320"/>
                  </a:cubicBezTo>
                  <a:lnTo>
                    <a:pt x="146304" y="2560320"/>
                  </a:lnTo>
                  <a:cubicBezTo>
                    <a:pt x="65532" y="2560320"/>
                    <a:pt x="0" y="2494788"/>
                    <a:pt x="0" y="2414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521440" y="5074920"/>
            <a:ext cx="5486400" cy="480060"/>
            <a:chOff x="0" y="0"/>
            <a:chExt cx="73152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3152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521440" y="5486400"/>
            <a:ext cx="5486400" cy="1165860"/>
            <a:chOff x="0" y="0"/>
            <a:chExt cx="731520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3152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Occasional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7200900"/>
            <a:ext cx="16596360" cy="1234440"/>
            <a:chOff x="0" y="0"/>
            <a:chExt cx="2212848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D9E8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example was misclassified — a reminder that individual predictions should be read alongside aggregate metrics like the confusion matrix, not in isolation.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Logistic Regression Coefficients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3435" y="2665095"/>
            <a:ext cx="10306050" cy="6671310"/>
            <a:chOff x="0" y="0"/>
            <a:chExt cx="13741400" cy="889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3741400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13631418" y="0"/>
                  </a:lnTo>
                  <a:cubicBezTo>
                    <a:pt x="13692124" y="0"/>
                    <a:pt x="13741400" y="49276"/>
                    <a:pt x="13741400" y="109982"/>
                  </a:cubicBezTo>
                  <a:lnTo>
                    <a:pt x="13741400" y="8785098"/>
                  </a:lnTo>
                  <a:cubicBezTo>
                    <a:pt x="13741400" y="8845804"/>
                    <a:pt x="13692124" y="8895080"/>
                    <a:pt x="13631418" y="8895080"/>
                  </a:cubicBezTo>
                  <a:lnTo>
                    <a:pt x="109982" y="8895080"/>
                  </a:lnTo>
                  <a:cubicBezTo>
                    <a:pt x="49276" y="8895080"/>
                    <a:pt x="0" y="8845804"/>
                    <a:pt x="0" y="8785098"/>
                  </a:cubicBezTo>
                  <a:close/>
                </a:path>
              </a:pathLst>
            </a:custGeom>
            <a:solidFill>
              <a:srgbClr val="07182E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57300" y="2966085"/>
            <a:ext cx="9418320" cy="610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fitted_classifier = model.named_steps[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"classifier"]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feature_names = 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fitted_preprocessor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.get_feature_names_out()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coefficients = pd.DataFrame(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fitted_classifier.coef_,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columns=feature_names,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    index=fitted_classifier.classes_</a:t>
            </a: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9FE6C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52860" y="2674620"/>
            <a:ext cx="5897880" cy="480060"/>
            <a:chOff x="0" y="0"/>
            <a:chExt cx="78638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63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52860" y="3332988"/>
            <a:ext cx="150876" cy="150876"/>
            <a:chOff x="0" y="0"/>
            <a:chExt cx="201168" cy="201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0" y="3111627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One coefficient row is produced per class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52860" y="4320540"/>
            <a:ext cx="150876" cy="150876"/>
            <a:chOff x="0" y="0"/>
            <a:chExt cx="201168" cy="2011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87200" y="4099179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Larger magnitude → stronger influence on that class's score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2860" y="53080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0" y="5086731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Sign indicates direction of the relationship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52860" y="6295644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87200" y="6074283"/>
            <a:ext cx="53721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Helps explain, not just predict, customer behavior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ASSESSMENT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Advantages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0595" y="2733675"/>
            <a:ext cx="8042910" cy="1459230"/>
            <a:chOff x="0" y="0"/>
            <a:chExt cx="10723880" cy="1945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154680"/>
            <a:ext cx="617220" cy="617220"/>
            <a:chOff x="0" y="0"/>
            <a:chExt cx="82296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3154680"/>
            <a:ext cx="617220" cy="617220"/>
            <a:chOff x="0" y="0"/>
            <a:chExt cx="82296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5980" y="2743200"/>
            <a:ext cx="6652260" cy="1440180"/>
            <a:chOff x="0" y="0"/>
            <a:chExt cx="8869680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Handles multiple customer categories at once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595" y="4379595"/>
            <a:ext cx="8042910" cy="1459230"/>
            <a:chOff x="0" y="0"/>
            <a:chExt cx="10723880" cy="1945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4800600"/>
            <a:ext cx="617220" cy="617220"/>
            <a:chOff x="0" y="0"/>
            <a:chExt cx="82296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020" y="4800600"/>
            <a:ext cx="617220" cy="617220"/>
            <a:chOff x="0" y="0"/>
            <a:chExt cx="8229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25980" y="4389120"/>
            <a:ext cx="6652260" cy="1440180"/>
            <a:chOff x="0" y="0"/>
            <a:chExt cx="8869680" cy="1920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Simple, interpretable classification model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0595" y="6025515"/>
            <a:ext cx="8042910" cy="1459230"/>
            <a:chOff x="0" y="0"/>
            <a:chExt cx="10723880" cy="1945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6446520"/>
            <a:ext cx="617220" cy="617220"/>
            <a:chOff x="0" y="0"/>
            <a:chExt cx="82296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6446520"/>
            <a:ext cx="617220" cy="617220"/>
            <a:chOff x="0" y="0"/>
            <a:chExt cx="82296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25980" y="6035040"/>
            <a:ext cx="6652260" cy="1440180"/>
            <a:chOff x="0" y="0"/>
            <a:chExt cx="8869680" cy="192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 integrated into a single pipeline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595" y="7671435"/>
            <a:ext cx="8042910" cy="1459230"/>
            <a:chOff x="0" y="0"/>
            <a:chExt cx="10723880" cy="1945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8092440"/>
            <a:ext cx="617220" cy="617220"/>
            <a:chOff x="0" y="0"/>
            <a:chExt cx="822960" cy="822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03020" y="8092440"/>
            <a:ext cx="617220" cy="617220"/>
            <a:chOff x="0" y="0"/>
            <a:chExt cx="82296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25980" y="7680960"/>
            <a:ext cx="6652260" cy="1440180"/>
            <a:chOff x="0" y="0"/>
            <a:chExt cx="8869680" cy="1920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values handled systematically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17355" y="2733675"/>
            <a:ext cx="8042910" cy="1459230"/>
            <a:chOff x="0" y="0"/>
            <a:chExt cx="10723880" cy="1945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669780" y="3154680"/>
            <a:ext cx="617220" cy="617220"/>
            <a:chOff x="0" y="0"/>
            <a:chExt cx="82296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69780" y="3154680"/>
            <a:ext cx="617220" cy="617220"/>
            <a:chOff x="0" y="0"/>
            <a:chExt cx="82296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92740" y="2743200"/>
            <a:ext cx="6652260" cy="1440180"/>
            <a:chOff x="0" y="0"/>
            <a:chExt cx="8869680" cy="1920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Categorical variables one-hot encoded consistently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17355" y="4379595"/>
            <a:ext cx="8042910" cy="1459230"/>
            <a:chOff x="0" y="0"/>
            <a:chExt cx="10723880" cy="1945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69780" y="4800600"/>
            <a:ext cx="617220" cy="617220"/>
            <a:chOff x="0" y="0"/>
            <a:chExt cx="822960" cy="822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669780" y="4800600"/>
            <a:ext cx="617220" cy="617220"/>
            <a:chOff x="0" y="0"/>
            <a:chExt cx="82296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492740" y="4389120"/>
            <a:ext cx="6652260" cy="1440180"/>
            <a:chOff x="0" y="0"/>
            <a:chExt cx="8869680" cy="1920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Numerical variables standardized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17355" y="6025515"/>
            <a:ext cx="8042910" cy="1459230"/>
            <a:chOff x="0" y="0"/>
            <a:chExt cx="10723880" cy="1945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669780" y="6446520"/>
            <a:ext cx="617220" cy="617220"/>
            <a:chOff x="0" y="0"/>
            <a:chExt cx="822960" cy="822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69780" y="6446520"/>
            <a:ext cx="617220" cy="617220"/>
            <a:chOff x="0" y="0"/>
            <a:chExt cx="822960" cy="822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92740" y="6035040"/>
            <a:ext cx="6652260" cy="1440180"/>
            <a:chOff x="0" y="0"/>
            <a:chExt cx="8869680" cy="1920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measured across multiple metrics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17355" y="7671435"/>
            <a:ext cx="8042910" cy="1459230"/>
            <a:chOff x="0" y="0"/>
            <a:chExt cx="10723880" cy="1945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7238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72388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0575671" y="0"/>
                  </a:lnTo>
                  <a:cubicBezTo>
                    <a:pt x="10657586" y="0"/>
                    <a:pt x="10723880" y="66421"/>
                    <a:pt x="10723880" y="148209"/>
                  </a:cubicBezTo>
                  <a:lnTo>
                    <a:pt x="10723880" y="1797431"/>
                  </a:lnTo>
                  <a:cubicBezTo>
                    <a:pt x="10723880" y="1879346"/>
                    <a:pt x="10657459" y="1945640"/>
                    <a:pt x="1057567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669780" y="8092440"/>
            <a:ext cx="617220" cy="617220"/>
            <a:chOff x="0" y="0"/>
            <a:chExt cx="822960" cy="8229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69780" y="8092440"/>
            <a:ext cx="617220" cy="617220"/>
            <a:chOff x="0" y="0"/>
            <a:chExt cx="822960" cy="822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492740" y="7680960"/>
            <a:ext cx="6652260" cy="1440180"/>
            <a:chOff x="0" y="0"/>
            <a:chExt cx="8869680" cy="19202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886968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4576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Extensible into a full customer-segmentation application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ASSESSMENT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Limitations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811780"/>
            <a:ext cx="16322040" cy="1165860"/>
            <a:chOff x="0" y="0"/>
            <a:chExt cx="2176272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444752"/>
                  </a:lnTo>
                  <a:cubicBezTo>
                    <a:pt x="21762720" y="1505331"/>
                    <a:pt x="21713571" y="1554480"/>
                    <a:pt x="2165299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3086100"/>
            <a:ext cx="617220" cy="617220"/>
            <a:chOff x="0" y="0"/>
            <a:chExt cx="82296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3086100"/>
            <a:ext cx="617220" cy="617220"/>
            <a:chOff x="0" y="0"/>
            <a:chExt cx="82296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94560" y="2811780"/>
            <a:ext cx="14813280" cy="1165860"/>
            <a:chOff x="0" y="0"/>
            <a:chExt cx="197510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510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574" r="0" b="-1975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75104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 Regression assumes a relatively simple relationship between features and class scores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4183380"/>
            <a:ext cx="16322040" cy="1165860"/>
            <a:chOff x="0" y="0"/>
            <a:chExt cx="2176272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444752"/>
                  </a:lnTo>
                  <a:cubicBezTo>
                    <a:pt x="21762720" y="1505331"/>
                    <a:pt x="21713571" y="1554480"/>
                    <a:pt x="2165299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4457700"/>
            <a:ext cx="617220" cy="617220"/>
            <a:chOff x="0" y="0"/>
            <a:chExt cx="82296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020" y="4457700"/>
            <a:ext cx="617220" cy="617220"/>
            <a:chOff x="0" y="0"/>
            <a:chExt cx="8229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94560" y="4183380"/>
            <a:ext cx="14813280" cy="1165860"/>
            <a:chOff x="0" y="0"/>
            <a:chExt cx="1975104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7510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574" r="0" b="-1975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975104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performance depends heavily on dataset quality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5554980"/>
            <a:ext cx="16322040" cy="1165860"/>
            <a:chOff x="0" y="0"/>
            <a:chExt cx="21762720" cy="1554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444752"/>
                  </a:lnTo>
                  <a:cubicBezTo>
                    <a:pt x="21762720" y="1505331"/>
                    <a:pt x="21713571" y="1554480"/>
                    <a:pt x="2165299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5829300"/>
            <a:ext cx="617220" cy="617220"/>
            <a:chOff x="0" y="0"/>
            <a:chExt cx="82296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5829300"/>
            <a:ext cx="617220" cy="617220"/>
            <a:chOff x="0" y="0"/>
            <a:chExt cx="82296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94560" y="5554980"/>
            <a:ext cx="14813280" cy="1165860"/>
            <a:chOff x="0" y="0"/>
            <a:chExt cx="1975104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7510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574" r="0" b="-1975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975104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Imbalanced customer categories can affect class-level metrics (seen in the Regular class)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6926580"/>
            <a:ext cx="16322040" cy="1165860"/>
            <a:chOff x="0" y="0"/>
            <a:chExt cx="2176272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444752"/>
                  </a:lnTo>
                  <a:cubicBezTo>
                    <a:pt x="21762720" y="1505331"/>
                    <a:pt x="21713571" y="1554480"/>
                    <a:pt x="2165299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7200900"/>
            <a:ext cx="617220" cy="617220"/>
            <a:chOff x="0" y="0"/>
            <a:chExt cx="822960" cy="822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03020" y="7200900"/>
            <a:ext cx="617220" cy="617220"/>
            <a:chOff x="0" y="0"/>
            <a:chExt cx="82296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94560" y="6926580"/>
            <a:ext cx="14813280" cy="1165860"/>
            <a:chOff x="0" y="0"/>
            <a:chExt cx="1975104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7510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574" r="0" b="-1975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975104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current project is based on a static, offline dataset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" y="8298180"/>
            <a:ext cx="16322040" cy="1165860"/>
            <a:chOff x="0" y="0"/>
            <a:chExt cx="2176272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444752"/>
                  </a:lnTo>
                  <a:cubicBezTo>
                    <a:pt x="21762720" y="1505331"/>
                    <a:pt x="21713571" y="1554480"/>
                    <a:pt x="2165299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8572500"/>
            <a:ext cx="617220" cy="617220"/>
            <a:chOff x="0" y="0"/>
            <a:chExt cx="82296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26B5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03020" y="8572500"/>
            <a:ext cx="617220" cy="617220"/>
            <a:chOff x="0" y="0"/>
            <a:chExt cx="82296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194560" y="8298180"/>
            <a:ext cx="14813280" cy="1165860"/>
            <a:chOff x="0" y="0"/>
            <a:chExt cx="19751040" cy="15544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7510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574" r="0" b="-1975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975104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D9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web application or deployment is included in the current notebook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Enhancements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4EA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0595" y="2733675"/>
            <a:ext cx="5162550" cy="6465570"/>
            <a:chOff x="0" y="0"/>
            <a:chExt cx="6883400" cy="8620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34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8473948"/>
                  </a:lnTo>
                  <a:cubicBezTo>
                    <a:pt x="6883400" y="8554974"/>
                    <a:pt x="6817614" y="8620760"/>
                    <a:pt x="673658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743200"/>
            <a:ext cx="5143500" cy="754380"/>
            <a:chOff x="0" y="0"/>
            <a:chExt cx="685800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5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743200"/>
            <a:ext cx="5143500" cy="754380"/>
            <a:chOff x="0" y="0"/>
            <a:chExt cx="68580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580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3991356"/>
            <a:ext cx="164592" cy="164592"/>
            <a:chOff x="0" y="0"/>
            <a:chExt cx="219456" cy="2194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805940" y="371094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with Random Forest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1600" y="5294376"/>
            <a:ext cx="164592" cy="164592"/>
            <a:chOff x="0" y="0"/>
            <a:chExt cx="21945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805940" y="501396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with Decision Tree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1600" y="6597396"/>
            <a:ext cx="164592" cy="164592"/>
            <a:chOff x="0" y="0"/>
            <a:chExt cx="219456" cy="2194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05940" y="631698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Tune parameters via cross-validation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05575" y="2733675"/>
            <a:ext cx="5162550" cy="6465570"/>
            <a:chOff x="0" y="0"/>
            <a:chExt cx="6883400" cy="8620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34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8473948"/>
                  </a:lnTo>
                  <a:cubicBezTo>
                    <a:pt x="6883400" y="8554974"/>
                    <a:pt x="6817614" y="8620760"/>
                    <a:pt x="673658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515100" y="2743200"/>
            <a:ext cx="5143500" cy="754380"/>
            <a:chOff x="0" y="0"/>
            <a:chExt cx="685800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15100" y="2743200"/>
            <a:ext cx="5143500" cy="754380"/>
            <a:chOff x="0" y="0"/>
            <a:chExt cx="685800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8580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&amp; APP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26580" y="3991356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360920" y="371094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on a larger, more representative dataset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926580" y="5294376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360920" y="501396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a web application for customer input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060555" y="2733675"/>
            <a:ext cx="5162550" cy="6465570"/>
            <a:chOff x="0" y="0"/>
            <a:chExt cx="6883400" cy="8620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834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8473948"/>
                  </a:lnTo>
                  <a:cubicBezTo>
                    <a:pt x="6883400" y="8554974"/>
                    <a:pt x="6817614" y="8620760"/>
                    <a:pt x="6736588" y="8620760"/>
                  </a:cubicBezTo>
                  <a:lnTo>
                    <a:pt x="146812" y="8620760"/>
                  </a:lnTo>
                  <a:cubicBezTo>
                    <a:pt x="65786" y="8620760"/>
                    <a:pt x="0" y="8554974"/>
                    <a:pt x="0" y="8473948"/>
                  </a:cubicBezTo>
                  <a:close/>
                </a:path>
              </a:pathLst>
            </a:custGeom>
            <a:solidFill>
              <a:srgbClr val="F4F8FB"/>
            </a:solidFill>
            <a:ln w="19050" cap="sq">
              <a:solidFill>
                <a:srgbClr val="E4EAF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70080" y="2743200"/>
            <a:ext cx="5143500" cy="754380"/>
            <a:chOff x="0" y="0"/>
            <a:chExt cx="685800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5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070080" y="2743200"/>
            <a:ext cx="5143500" cy="754380"/>
            <a:chOff x="0" y="0"/>
            <a:chExt cx="685800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5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685800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81560" y="3991356"/>
            <a:ext cx="164592" cy="164592"/>
            <a:chOff x="0" y="0"/>
            <a:chExt cx="219456" cy="2194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2915900" y="371094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 predictions to a real-time data source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481560" y="5294376"/>
            <a:ext cx="164592" cy="164592"/>
            <a:chOff x="0" y="0"/>
            <a:chExt cx="219456" cy="2194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915900" y="5013960"/>
            <a:ext cx="393192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4576D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the application on a cloud platform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WRAP-UP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97280"/>
            <a:chOff x="0" y="0"/>
            <a:chExt cx="215798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811780"/>
            <a:ext cx="480060" cy="480060"/>
            <a:chOff x="0" y="0"/>
            <a:chExt cx="64008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811780"/>
            <a:ext cx="480060" cy="480060"/>
            <a:chOff x="0" y="0"/>
            <a:chExt cx="64008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37360" y="267271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Predicts customer categories from demographic, spending and behavioral information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120" y="3634740"/>
            <a:ext cx="480060" cy="480060"/>
            <a:chOff x="0" y="0"/>
            <a:chExt cx="6400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3634740"/>
            <a:ext cx="480060" cy="480060"/>
            <a:chOff x="0" y="0"/>
            <a:chExt cx="6400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37360" y="349567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Dataset: 50,000 customer records across 14 columns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20" y="4457700"/>
            <a:ext cx="480060" cy="480060"/>
            <a:chOff x="0" y="0"/>
            <a:chExt cx="6400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" y="4457700"/>
            <a:ext cx="480060" cy="480060"/>
            <a:chOff x="0" y="0"/>
            <a:chExt cx="6400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37360" y="431863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Target variable: customer_segment, with four classes — Occasional, Regular, Loyal, High_Value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0120" y="5280660"/>
            <a:ext cx="480060" cy="480060"/>
            <a:chOff x="0" y="0"/>
            <a:chExt cx="64008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5280660"/>
            <a:ext cx="480060" cy="480060"/>
            <a:chOff x="0" y="0"/>
            <a:chExt cx="64008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37360" y="514159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Data was cleaned and preprocessed before training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0120" y="6103620"/>
            <a:ext cx="480060" cy="480060"/>
            <a:chOff x="0" y="0"/>
            <a:chExt cx="6400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120" y="6103620"/>
            <a:ext cx="480060" cy="480060"/>
            <a:chOff x="0" y="0"/>
            <a:chExt cx="64008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737360" y="596455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Numerical features imputed and scaled; categorical features imputed and one-hot encoded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0120" y="6926580"/>
            <a:ext cx="480060" cy="480060"/>
            <a:chOff x="0" y="0"/>
            <a:chExt cx="64008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0120" y="6926580"/>
            <a:ext cx="480060" cy="480060"/>
            <a:chOff x="0" y="0"/>
            <a:chExt cx="64008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737360" y="678751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A Multinomial Logistic Regression classifier was trained on an 80/20 stratified split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0120" y="7749540"/>
            <a:ext cx="480060" cy="480060"/>
            <a:chOff x="0" y="0"/>
            <a:chExt cx="64008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0120" y="7749540"/>
            <a:ext cx="480060" cy="480060"/>
            <a:chOff x="0" y="0"/>
            <a:chExt cx="6400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737360" y="761047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Achieved 66.4% accuracy and 0.656 weighted F1-score on held-out test data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60120" y="8572500"/>
            <a:ext cx="480060" cy="480060"/>
            <a:chOff x="0" y="0"/>
            <a:chExt cx="64008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3E92C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" y="8572500"/>
            <a:ext cx="480060" cy="480060"/>
            <a:chOff x="0" y="0"/>
            <a:chExt cx="64008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40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737360" y="8433435"/>
            <a:ext cx="15453360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E8F5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Evaluated via accuracy, precision, recall, F1-score, classification report and confusion matrix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WRAP-UP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77781"/>
            <a:ext cx="16184880" cy="3303594"/>
            <a:chOff x="0" y="0"/>
            <a:chExt cx="21579840" cy="440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53" r="0" b="-1206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Website pictures: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30101" y="2453540"/>
            <a:ext cx="14348581" cy="7559140"/>
          </a:xfrm>
          <a:custGeom>
            <a:avLst/>
            <a:gdLst/>
            <a:ahLst/>
            <a:cxnLst/>
            <a:rect r="r" b="b" t="t" l="l"/>
            <a:pathLst>
              <a:path h="7559140" w="14348581">
                <a:moveTo>
                  <a:pt x="0" y="0"/>
                </a:moveTo>
                <a:lnTo>
                  <a:pt x="14348581" y="0"/>
                </a:lnTo>
                <a:lnTo>
                  <a:pt x="14348581" y="7559140"/>
                </a:lnTo>
                <a:lnTo>
                  <a:pt x="0" y="7559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3E92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WRAP-UP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77781"/>
            <a:ext cx="16184880" cy="3303594"/>
            <a:chOff x="0" y="0"/>
            <a:chExt cx="21579840" cy="440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53" r="0" b="-1206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Website pictures: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194560"/>
            <a:ext cx="18283428" cy="27432"/>
            <a:chOff x="0" y="0"/>
            <a:chExt cx="24377904" cy="3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B3A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23308" y="9601200"/>
            <a:ext cx="548640" cy="411480"/>
            <a:chOff x="0" y="0"/>
            <a:chExt cx="73152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9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42374" y="2221992"/>
            <a:ext cx="14398680" cy="7620118"/>
          </a:xfrm>
          <a:custGeom>
            <a:avLst/>
            <a:gdLst/>
            <a:ahLst/>
            <a:cxnLst/>
            <a:rect r="r" b="b" t="t" l="l"/>
            <a:pathLst>
              <a:path h="7620118" w="14398680">
                <a:moveTo>
                  <a:pt x="0" y="0"/>
                </a:moveTo>
                <a:lnTo>
                  <a:pt x="14398680" y="0"/>
                </a:lnTo>
                <a:lnTo>
                  <a:pt x="14398680" y="7620118"/>
                </a:lnTo>
                <a:lnTo>
                  <a:pt x="0" y="7620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0" y="-301752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0" y="617220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3703320"/>
            <a:ext cx="18283428" cy="1645920"/>
            <a:chOff x="0" y="0"/>
            <a:chExt cx="24377904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446" r="0" b="-1664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4377904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5143500"/>
            <a:ext cx="18283428" cy="822960"/>
            <a:chOff x="0" y="0"/>
            <a:chExt cx="24377904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779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892" r="0" b="-3828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437790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3E92C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Questions?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47100">
            <a:off x="7744073" y="6231255"/>
            <a:ext cx="2781557" cy="0"/>
          </a:xfrm>
          <a:prstGeom prst="line">
            <a:avLst/>
          </a:prstGeom>
          <a:ln cap="rnd" w="19050">
            <a:solidFill>
              <a:srgbClr val="3E92C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057400" y="6652260"/>
            <a:ext cx="14127480" cy="822960"/>
            <a:chOff x="0" y="0"/>
            <a:chExt cx="188366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366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93" r="0" b="-2844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8836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BC1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Multi-Class Customer Category Prediction Using Multinomial Logistic Regression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DAHWFu10iZk</dc:identifier>
  <dcterms:modified xsi:type="dcterms:W3CDTF">2011-08-01T06:04:30Z</dcterms:modified>
  <cp:revision>1</cp:revision>
  <dc:title>Customer_Category_Prediction_Presentation.pptx</dc:title>
</cp:coreProperties>
</file>